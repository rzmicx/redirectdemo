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61" r:id="rId6"/>
    <p:sldId id="264" r:id="rId7"/>
    <p:sldId id="265" r:id="rId8"/>
    <p:sldId id="266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53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1099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0"/>
            <a:ext cx="4690872" cy="6858000"/>
          </a:xfrm>
          <a:prstGeom prst="rect">
            <a:avLst/>
          </a:prstGeom>
          <a:solidFill>
            <a:srgbClr val="172554">
              <a:alpha val="94000"/>
            </a:srgbClr>
          </a:solidFill>
          <a:ln w="12700">
            <a:solidFill>
              <a:srgbClr val="17255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25880"/>
            <a:ext cx="566928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4100" b="1" dirty="0">
                <a:solidFill>
                  <a:srgbClr val="FFFFFF"/>
                </a:solidFill>
              </a:rPr>
              <a:t>Elsa Workflow</a:t>
            </a:r>
            <a:endParaRPr lang="en-US" sz="4100" dirty="0"/>
          </a:p>
        </p:txBody>
      </p:sp>
      <p:sp>
        <p:nvSpPr>
          <p:cNvPr id="6" name="Text 4"/>
          <p:cNvSpPr/>
          <p:nvPr/>
        </p:nvSpPr>
        <p:spPr>
          <a:xfrm>
            <a:off x="713232" y="2011680"/>
            <a:ext cx="61264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CBD5E1"/>
                </a:solidFill>
              </a:rPr>
              <a:t>Workflow Orchestration Framework untuk Approval &amp; Document Processing Automation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2788920"/>
            <a:ext cx="512064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93C5FD"/>
                </a:solidFill>
              </a:rPr>
              <a:t>Developer perspective untuk diskusi dengan Ketua Tim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49808" y="3429000"/>
            <a:ext cx="1325880" cy="3108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493008"/>
            <a:ext cx="1179576" cy="1554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ASP.NET Core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212848" y="3429000"/>
            <a:ext cx="1920240" cy="31089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0" y="3493008"/>
            <a:ext cx="1773936" cy="1554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.NET Workflow Engine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297680" y="3429000"/>
            <a:ext cx="1965960" cy="31089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70832" y="3493008"/>
            <a:ext cx="1819656" cy="1554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Approval Automation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77240" y="5349240"/>
            <a:ext cx="649224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D8E8FF"/>
                </a:solidFill>
              </a:rPr>
              <a:t>Tujuan presentasi: menyamakan konteks teknis, risiko, dan rencana implementasi sebelum framework dipakai lebih luas.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818120" y="1234440"/>
            <a:ext cx="3520440" cy="4251960"/>
          </a:xfrm>
          <a:prstGeom prst="rect">
            <a:avLst/>
          </a:prstGeom>
          <a:solidFill>
            <a:srgbClr val="0F172A">
              <a:alpha val="95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75320" y="1783080"/>
            <a:ext cx="16459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HTTP Trigger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75320" y="2788920"/>
            <a:ext cx="16459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Approval Wait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75320" y="3794760"/>
            <a:ext cx="19202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Continue Process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869680" y="2212848"/>
            <a:ext cx="0" cy="438912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869680" y="3218688"/>
            <a:ext cx="0" cy="438912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966960" y="1645920"/>
            <a:ext cx="731520" cy="731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966960" y="2651760"/>
            <a:ext cx="731520" cy="7315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966960" y="3657600"/>
            <a:ext cx="731520" cy="7315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10896"/>
            <a:ext cx="27432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</a:rPr>
              <a:t>Elsa Workflow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94360" y="594360"/>
            <a:ext cx="105156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</a:rPr>
              <a:t>Current Situation: Kenapa Perlu Workflow Engine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Developer perspective → Team Lead decision support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3474720" cy="50292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554480"/>
            <a:ext cx="324612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Kondisi Saat Ini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60520" y="1417320"/>
            <a:ext cx="3657600" cy="50292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70248" y="1554480"/>
            <a:ext cx="342900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Dampak ke Development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818120" y="1417320"/>
            <a:ext cx="3520440" cy="50292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27848" y="1554480"/>
            <a:ext cx="329184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Dampak ke Operasional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1920240"/>
            <a:ext cx="34747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2039112"/>
            <a:ext cx="3255264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</a:rPr>
              <a:t>Approval logic ditulis langsung di aplikasi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4160520" y="1920240"/>
            <a:ext cx="3657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70248" y="2039112"/>
            <a:ext cx="3438144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</a:rPr>
              <a:t>Kode cepat kompleks saat flow bertambah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7818120" y="1920240"/>
            <a:ext cx="3520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27848" y="2039112"/>
            <a:ext cx="3300984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</a:rPr>
              <a:t>Perubahan sulit dilacak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685800" y="2578608"/>
            <a:ext cx="347472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5528" y="2697480"/>
            <a:ext cx="3255264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</a:rPr>
              <a:t>Flow berubah mengikuti kebutuhan bisnis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4160520" y="2578608"/>
            <a:ext cx="365760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70248" y="2697480"/>
            <a:ext cx="3438144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</a:rPr>
              <a:t>Perlu ubah kode, deploy, dan test ulang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7818120" y="2578608"/>
            <a:ext cx="352044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27848" y="2697480"/>
            <a:ext cx="3300984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</a:rPr>
              <a:t>Lead sulit melihat “flow versi terbaru”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685800" y="3236976"/>
            <a:ext cx="34747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528" y="3355848"/>
            <a:ext cx="3255264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</a:rPr>
              <a:t>Proses menunggu approval user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4160520" y="3236976"/>
            <a:ext cx="3657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70248" y="3355848"/>
            <a:ext cx="3438144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</a:rPr>
              <a:t>Request-response biasa tidak cukup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7818120" y="3236976"/>
            <a:ext cx="3520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27848" y="3355848"/>
            <a:ext cx="3300984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</a:rPr>
              <a:t>Perlu mekanisme pause/resume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685800" y="3895344"/>
            <a:ext cx="347472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5528" y="4014216"/>
            <a:ext cx="3255264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</a:rPr>
              <a:t>Status tersebar di banyak API/fungsi</a:t>
            </a:r>
            <a:endParaRPr lang="en-US" sz="1080" dirty="0"/>
          </a:p>
        </p:txBody>
      </p:sp>
      <p:sp>
        <p:nvSpPr>
          <p:cNvPr id="32" name="Shape 30"/>
          <p:cNvSpPr/>
          <p:nvPr/>
        </p:nvSpPr>
        <p:spPr>
          <a:xfrm>
            <a:off x="4160520" y="3895344"/>
            <a:ext cx="365760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70248" y="4014216"/>
            <a:ext cx="3438144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</a:rPr>
              <a:t>Debugging butuh tracing manual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7818120" y="3895344"/>
            <a:ext cx="352044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27848" y="4014216"/>
            <a:ext cx="3300984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</a:rPr>
              <a:t>Monitoring proses tidak konsisten</a:t>
            </a:r>
            <a:endParaRPr lang="en-US" sz="1080" dirty="0"/>
          </a:p>
        </p:txBody>
      </p:sp>
      <p:sp>
        <p:nvSpPr>
          <p:cNvPr id="36" name="Shape 34"/>
          <p:cNvSpPr/>
          <p:nvPr/>
        </p:nvSpPr>
        <p:spPr>
          <a:xfrm>
            <a:off x="685800" y="4553712"/>
            <a:ext cx="34747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5528" y="4672584"/>
            <a:ext cx="3255264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</a:rPr>
              <a:t>Integrasi email/dokumen/approval meningkat</a:t>
            </a:r>
            <a:endParaRPr lang="en-US" sz="1080" dirty="0"/>
          </a:p>
        </p:txBody>
      </p:sp>
      <p:sp>
        <p:nvSpPr>
          <p:cNvPr id="38" name="Shape 36"/>
          <p:cNvSpPr/>
          <p:nvPr/>
        </p:nvSpPr>
        <p:spPr>
          <a:xfrm>
            <a:off x="4160520" y="4553712"/>
            <a:ext cx="3657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70248" y="4672584"/>
            <a:ext cx="3438144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</a:rPr>
              <a:t>Aplikasi utama makin penuh logic non-core</a:t>
            </a:r>
            <a:endParaRPr lang="en-US" sz="1080" dirty="0"/>
          </a:p>
        </p:txBody>
      </p:sp>
      <p:sp>
        <p:nvSpPr>
          <p:cNvPr id="40" name="Shape 38"/>
          <p:cNvSpPr/>
          <p:nvPr/>
        </p:nvSpPr>
        <p:spPr>
          <a:xfrm>
            <a:off x="7818120" y="4553712"/>
            <a:ext cx="3520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927848" y="4672584"/>
            <a:ext cx="3300984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F172A"/>
                </a:solidFill>
              </a:rPr>
              <a:t>Risiko bug lintas modul meningkat</a:t>
            </a:r>
            <a:endParaRPr lang="en-US" sz="10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10896"/>
            <a:ext cx="27432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</a:rPr>
              <a:t>Elsa Workflow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94360" y="594360"/>
            <a:ext cx="105156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</a:rPr>
              <a:t>Apa Itu Elsa Workflow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Developer perspective → Team Lead decision support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234440"/>
            <a:ext cx="1078992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Elsa adalah workflow engine untuk ekosistem .NET yang membantu memodelkan proses bisnis sebagai rangkaian activity, trigger, decision, dan state yang bisa dipause lalu dilanjutkan.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85800" y="2148840"/>
            <a:ext cx="32918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CBD5E1">
                <a:alpha val="2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2148840"/>
            <a:ext cx="73152" cy="2606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2304288"/>
            <a:ext cx="29718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Konsep inti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86968" y="2697480"/>
            <a:ext cx="2944368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64748B"/>
                </a:solidFill>
              </a:rPr>
              <a:t>• Workflow Definition: template alur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64748B"/>
                </a:solidFill>
              </a:rPr>
              <a:t>• Workflow Instance: eksekusi per transaksi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64748B"/>
                </a:solidFill>
              </a:rPr>
              <a:t>• Activity: step proses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64748B"/>
                </a:solidFill>
              </a:rPr>
              <a:t>• Bookmark/Blocking: titik tunggu event eksternal</a:t>
            </a:r>
            <a:endParaRPr lang="en-US" sz="1270" dirty="0"/>
          </a:p>
        </p:txBody>
      </p:sp>
      <p:sp>
        <p:nvSpPr>
          <p:cNvPr id="11" name="Shape 9"/>
          <p:cNvSpPr/>
          <p:nvPr/>
        </p:nvSpPr>
        <p:spPr>
          <a:xfrm>
            <a:off x="4251960" y="2148840"/>
            <a:ext cx="32918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CBD5E1">
                <a:alpha val="2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2148840"/>
            <a:ext cx="73152" cy="26060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53128" y="2304288"/>
            <a:ext cx="29718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Cara dipakai developer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53128" y="2697480"/>
            <a:ext cx="2944368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64748B"/>
                </a:solidFill>
              </a:rPr>
              <a:t>• Embedded di ASP.NET Core atau server workflow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64748B"/>
                </a:solidFill>
              </a:rPr>
              <a:t>• Buat workflow via designer / JSON / C#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64748B"/>
                </a:solidFill>
              </a:rPr>
              <a:t>• Expose endpoint untuk trigger/resume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64748B"/>
                </a:solidFill>
              </a:rPr>
              <a:t>• Custom activity untuk kebutuhan aplikasi</a:t>
            </a:r>
            <a:endParaRPr lang="en-US" sz="1270" dirty="0"/>
          </a:p>
        </p:txBody>
      </p:sp>
      <p:sp>
        <p:nvSpPr>
          <p:cNvPr id="15" name="Shape 13"/>
          <p:cNvSpPr/>
          <p:nvPr/>
        </p:nvSpPr>
        <p:spPr>
          <a:xfrm>
            <a:off x="7818120" y="2148840"/>
            <a:ext cx="338328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CBD5E1">
                <a:alpha val="2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818120" y="2148840"/>
            <a:ext cx="73152" cy="26060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19288" y="2304288"/>
            <a:ext cx="30632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Kapan cocok dipakai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019288" y="2697480"/>
            <a:ext cx="3035808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64748B"/>
                </a:solidFill>
              </a:rPr>
              <a:t>• Approval multi-step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64748B"/>
                </a:solidFill>
              </a:rPr>
              <a:t>• Proses yang butuh menunggu user/sistem lain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64748B"/>
                </a:solidFill>
              </a:rPr>
              <a:t>• Flow yang sering berubah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64748B"/>
                </a:solidFill>
              </a:rPr>
              <a:t>• Audit trail dan monitoring status proses</a:t>
            </a:r>
            <a:endParaRPr lang="en-US" sz="1270" dirty="0"/>
          </a:p>
        </p:txBody>
      </p:sp>
      <p:sp>
        <p:nvSpPr>
          <p:cNvPr id="19" name="Shape 17"/>
          <p:cNvSpPr/>
          <p:nvPr/>
        </p:nvSpPr>
        <p:spPr>
          <a:xfrm>
            <a:off x="1143000" y="5257800"/>
            <a:ext cx="992124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53312" y="5413248"/>
            <a:ext cx="94640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</a:rPr>
              <a:t>Catatan untuk tim: Elsa tidak menghilangkan validasi dan security; ia mengatur alur proses, sementara aturan bisnis kritikal tetap harus dijaga di aplikasi.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10896"/>
            <a:ext cx="27432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</a:rPr>
              <a:t>Elsa Workflow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94360" y="594360"/>
            <a:ext cx="105156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</a:rPr>
              <a:t>Why Elsa: Value dari Sudut Pandang Developer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Developer perspective → Team Lead decision support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51206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CBD5E1">
                <a:alpha val="2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417320"/>
            <a:ext cx="73152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1572768"/>
            <a:ext cx="48006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Maintainability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86968" y="1965960"/>
            <a:ext cx="4773168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64748B"/>
                </a:solidFill>
              </a:rPr>
              <a:t>Alur approval dipisahkan dari kode utama sehingga perubahan flow lebih mudah direview.</a:t>
            </a:r>
            <a:endParaRPr lang="en-US" sz="1270" dirty="0"/>
          </a:p>
        </p:txBody>
      </p:sp>
      <p:sp>
        <p:nvSpPr>
          <p:cNvPr id="10" name="Shape 8"/>
          <p:cNvSpPr/>
          <p:nvPr/>
        </p:nvSpPr>
        <p:spPr>
          <a:xfrm>
            <a:off x="6217920" y="1417320"/>
            <a:ext cx="51206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CBD5E1">
                <a:alpha val="2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17920" y="1417320"/>
            <a:ext cx="73152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19088" y="1572768"/>
            <a:ext cx="48006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Visibility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19088" y="1965960"/>
            <a:ext cx="4773168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64748B"/>
                </a:solidFill>
              </a:rPr>
              <a:t>Workflow visual membantu lead dan developer membaca alur yang sedang berjalan.</a:t>
            </a:r>
            <a:endParaRPr lang="en-US" sz="1270" dirty="0"/>
          </a:p>
        </p:txBody>
      </p:sp>
      <p:sp>
        <p:nvSpPr>
          <p:cNvPr id="14" name="Shape 12"/>
          <p:cNvSpPr/>
          <p:nvPr/>
        </p:nvSpPr>
        <p:spPr>
          <a:xfrm>
            <a:off x="685800" y="2834640"/>
            <a:ext cx="51206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CBD5E1">
                <a:alpha val="2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2834640"/>
            <a:ext cx="73152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68" y="2990088"/>
            <a:ext cx="48006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Long-running process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86968" y="3383280"/>
            <a:ext cx="4773168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64748B"/>
                </a:solidFill>
              </a:rPr>
              <a:t>Proses bisa berhenti menunggu approval, lalu lanjut saat event masuk.</a:t>
            </a:r>
            <a:endParaRPr lang="en-US" sz="1270" dirty="0"/>
          </a:p>
        </p:txBody>
      </p:sp>
      <p:sp>
        <p:nvSpPr>
          <p:cNvPr id="18" name="Shape 16"/>
          <p:cNvSpPr/>
          <p:nvPr/>
        </p:nvSpPr>
        <p:spPr>
          <a:xfrm>
            <a:off x="6217920" y="2834640"/>
            <a:ext cx="51206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CBD5E1">
                <a:alpha val="2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2834640"/>
            <a:ext cx="73152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19088" y="2990088"/>
            <a:ext cx="48006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Extensibility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19088" y="3383280"/>
            <a:ext cx="4773168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64748B"/>
                </a:solidFill>
              </a:rPr>
              <a:t>Custom activity dapat dibuat untuk kebutuhan spesifik: email, dokumen, API internal.</a:t>
            </a:r>
            <a:endParaRPr lang="en-US" sz="1270" dirty="0"/>
          </a:p>
        </p:txBody>
      </p:sp>
      <p:sp>
        <p:nvSpPr>
          <p:cNvPr id="22" name="Shape 20"/>
          <p:cNvSpPr/>
          <p:nvPr/>
        </p:nvSpPr>
        <p:spPr>
          <a:xfrm>
            <a:off x="685800" y="4251960"/>
            <a:ext cx="51206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CBD5E1">
                <a:alpha val="2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5800" y="4251960"/>
            <a:ext cx="73152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6968" y="4407408"/>
            <a:ext cx="48006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Standardization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86968" y="4800600"/>
            <a:ext cx="4773168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64748B"/>
                </a:solidFill>
              </a:rPr>
              <a:t>Step approval, timeout, dan resume endpoint dapat dibuat lebih konsisten antar proses.</a:t>
            </a:r>
            <a:endParaRPr lang="en-US" sz="1270" dirty="0"/>
          </a:p>
        </p:txBody>
      </p:sp>
      <p:sp>
        <p:nvSpPr>
          <p:cNvPr id="26" name="Shape 24"/>
          <p:cNvSpPr/>
          <p:nvPr/>
        </p:nvSpPr>
        <p:spPr>
          <a:xfrm>
            <a:off x="6217920" y="4251960"/>
            <a:ext cx="51206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CBD5E1">
                <a:alpha val="2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17920" y="4251960"/>
            <a:ext cx="73152" cy="10515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19088" y="4407408"/>
            <a:ext cx="48006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Learning curve terkontrol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19088" y="4800600"/>
            <a:ext cx="4773168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64748B"/>
                </a:solidFill>
              </a:rPr>
              <a:t>Konsep instance/bookmark perlu dipahami, tetapi scope awal bisa dibatasi.</a:t>
            </a:r>
            <a:endParaRPr lang="en-US" sz="127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10896"/>
            <a:ext cx="27432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</a:rPr>
              <a:t>Elsa Workflow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94360" y="594360"/>
            <a:ext cx="105156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</a:rPr>
              <a:t>Proposed Architecture: Posisi Elsa di Aplikasi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Developer perspective → Team Lead decision support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106984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</a:rPr>
              <a:t>Target arsitektur: aplikasi utama tetap menjadi pemilik data dan validasi, Elsa mengatur urutan proses, status, dan kapan proses dilanjutkan.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1920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176272"/>
            <a:ext cx="16459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172A"/>
                </a:solidFill>
              </a:rPr>
              <a:t>Client / User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13232" y="2587752"/>
            <a:ext cx="16002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64748B"/>
                </a:solidFill>
              </a:rPr>
              <a:t>Submit request</a:t>
            </a:r>
            <a:endParaRPr lang="en-US" sz="1070" dirty="0"/>
          </a:p>
          <a:p>
            <a:pPr marL="0" indent="0" algn="ctr">
              <a:buNone/>
            </a:pPr>
            <a:r>
              <a:rPr lang="en-US" sz="1070" dirty="0">
                <a:solidFill>
                  <a:srgbClr val="64748B"/>
                </a:solidFill>
              </a:rPr>
              <a:t>Approve / Reject</a:t>
            </a:r>
            <a:endParaRPr lang="en-US" sz="1070" dirty="0"/>
          </a:p>
        </p:txBody>
      </p:sp>
      <p:sp>
        <p:nvSpPr>
          <p:cNvPr id="10" name="Shape 8"/>
          <p:cNvSpPr/>
          <p:nvPr/>
        </p:nvSpPr>
        <p:spPr>
          <a:xfrm>
            <a:off x="2487168" y="2679192"/>
            <a:ext cx="329184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880360" y="1965960"/>
            <a:ext cx="1920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7520" y="2176272"/>
            <a:ext cx="16459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172A"/>
                </a:solidFill>
              </a:rPr>
              <a:t>ASP.NET Core App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044952" y="2587752"/>
            <a:ext cx="16002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64748B"/>
                </a:solidFill>
              </a:rPr>
              <a:t>Validation</a:t>
            </a:r>
            <a:endParaRPr lang="en-US" sz="1070" dirty="0"/>
          </a:p>
          <a:p>
            <a:pPr marL="0" indent="0" algn="ctr">
              <a:buNone/>
            </a:pPr>
            <a:r>
              <a:rPr lang="en-US" sz="1070" dirty="0">
                <a:solidFill>
                  <a:srgbClr val="64748B"/>
                </a:solidFill>
              </a:rPr>
              <a:t>Business API</a:t>
            </a:r>
            <a:endParaRPr lang="en-US" sz="1070" dirty="0"/>
          </a:p>
        </p:txBody>
      </p:sp>
      <p:sp>
        <p:nvSpPr>
          <p:cNvPr id="14" name="Shape 12"/>
          <p:cNvSpPr/>
          <p:nvPr/>
        </p:nvSpPr>
        <p:spPr>
          <a:xfrm>
            <a:off x="4818888" y="2679192"/>
            <a:ext cx="329184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212080" y="1965960"/>
            <a:ext cx="1920240" cy="1417320"/>
          </a:xfrm>
          <a:prstGeom prst="rect">
            <a:avLst/>
          </a:prstGeom>
          <a:solidFill>
            <a:srgbClr val="DBEAFE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49240" y="2176272"/>
            <a:ext cx="16459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172A"/>
                </a:solidFill>
              </a:rPr>
              <a:t>Elsa Workflow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376672" y="2587752"/>
            <a:ext cx="16002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64748B"/>
                </a:solidFill>
              </a:rPr>
              <a:t>Trigger</a:t>
            </a:r>
            <a:endParaRPr lang="en-US" sz="1070" dirty="0"/>
          </a:p>
          <a:p>
            <a:pPr marL="0" indent="0" algn="ctr">
              <a:buNone/>
            </a:pPr>
            <a:r>
              <a:rPr lang="en-US" sz="1070" dirty="0">
                <a:solidFill>
                  <a:srgbClr val="64748B"/>
                </a:solidFill>
              </a:rPr>
              <a:t>Decision</a:t>
            </a:r>
            <a:endParaRPr lang="en-US" sz="1070" dirty="0"/>
          </a:p>
          <a:p>
            <a:pPr marL="0" indent="0" algn="ctr">
              <a:buNone/>
            </a:pPr>
            <a:r>
              <a:rPr lang="en-US" sz="1070" dirty="0">
                <a:solidFill>
                  <a:srgbClr val="64748B"/>
                </a:solidFill>
              </a:rPr>
              <a:t>Wait/Resume</a:t>
            </a:r>
            <a:endParaRPr lang="en-US" sz="1070" dirty="0"/>
          </a:p>
        </p:txBody>
      </p:sp>
      <p:sp>
        <p:nvSpPr>
          <p:cNvPr id="18" name="Shape 16"/>
          <p:cNvSpPr/>
          <p:nvPr/>
        </p:nvSpPr>
        <p:spPr>
          <a:xfrm>
            <a:off x="7150608" y="2679192"/>
            <a:ext cx="329184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543800" y="1965960"/>
            <a:ext cx="1920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0960" y="2176272"/>
            <a:ext cx="16459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172A"/>
                </a:solidFill>
              </a:rPr>
              <a:t>Integration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708392" y="2587752"/>
            <a:ext cx="16002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64748B"/>
                </a:solidFill>
              </a:rPr>
              <a:t>Email</a:t>
            </a:r>
            <a:endParaRPr lang="en-US" sz="1070" dirty="0"/>
          </a:p>
          <a:p>
            <a:pPr marL="0" indent="0" algn="ctr">
              <a:buNone/>
            </a:pPr>
            <a:r>
              <a:rPr lang="en-US" sz="1070" dirty="0">
                <a:solidFill>
                  <a:srgbClr val="64748B"/>
                </a:solidFill>
              </a:rPr>
              <a:t>Document</a:t>
            </a:r>
            <a:endParaRPr lang="en-US" sz="1070" dirty="0"/>
          </a:p>
          <a:p>
            <a:pPr marL="0" indent="0" algn="ctr">
              <a:buNone/>
            </a:pPr>
            <a:r>
              <a:rPr lang="en-US" sz="1070" dirty="0">
                <a:solidFill>
                  <a:srgbClr val="64748B"/>
                </a:solidFill>
              </a:rPr>
              <a:t>External API</a:t>
            </a:r>
            <a:endParaRPr lang="en-US" sz="1070" dirty="0"/>
          </a:p>
        </p:txBody>
      </p:sp>
      <p:sp>
        <p:nvSpPr>
          <p:cNvPr id="22" name="Shape 20"/>
          <p:cNvSpPr/>
          <p:nvPr/>
        </p:nvSpPr>
        <p:spPr>
          <a:xfrm>
            <a:off x="9482328" y="2679192"/>
            <a:ext cx="329184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875520" y="1965960"/>
            <a:ext cx="1920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12680" y="2176272"/>
            <a:ext cx="16459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172A"/>
                </a:solidFill>
              </a:rPr>
              <a:t>Database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0040112" y="2587752"/>
            <a:ext cx="16002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64748B"/>
                </a:solidFill>
              </a:rPr>
              <a:t>Business data</a:t>
            </a:r>
            <a:endParaRPr lang="en-US" sz="1070" dirty="0"/>
          </a:p>
          <a:p>
            <a:pPr marL="0" indent="0" algn="ctr">
              <a:buNone/>
            </a:pPr>
            <a:r>
              <a:rPr lang="en-US" sz="1070" dirty="0">
                <a:solidFill>
                  <a:srgbClr val="64748B"/>
                </a:solidFill>
              </a:rPr>
              <a:t>Workflow state</a:t>
            </a:r>
            <a:endParaRPr lang="en-US" sz="107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10896"/>
            <a:ext cx="27432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</a:rPr>
              <a:t>Elsa Workflow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94360" y="594360"/>
            <a:ext cx="105156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</a:rPr>
              <a:t>Before vs After: Dampak ke Cara Kerja Tim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Developer perspective → Team Lead decision support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256032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C2626"/>
                </a:solidFill>
              </a:rPr>
              <a:t>Sebelum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863840" y="1325880"/>
            <a:ext cx="320040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A34A"/>
                </a:solidFill>
              </a:rPr>
              <a:t>Sesudah Dengan Elsa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31520" y="1874520"/>
            <a:ext cx="37490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CBD5E1">
                <a:alpha val="2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1874520"/>
            <a:ext cx="73152" cy="32918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2029968"/>
            <a:ext cx="34290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Code-centric process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32688" y="2423160"/>
            <a:ext cx="3401568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64748B"/>
                </a:solidFill>
              </a:rPr>
              <a:t>• Flow tersebar di controller/service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64748B"/>
                </a:solidFill>
              </a:rPr>
              <a:t>• Sulit melihat posisi proses saat menunggu approval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64748B"/>
                </a:solidFill>
              </a:rPr>
              <a:t>• Perubahan alur = ubah kode dan deploy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64748B"/>
                </a:solidFill>
              </a:rPr>
              <a:t>• Try-error lebih banyak saat dokumentasi tidak lengkap</a:t>
            </a:r>
            <a:endParaRPr lang="en-US" sz="1270" dirty="0"/>
          </a:p>
        </p:txBody>
      </p:sp>
      <p:sp>
        <p:nvSpPr>
          <p:cNvPr id="12" name="Shape 10"/>
          <p:cNvSpPr/>
          <p:nvPr/>
        </p:nvSpPr>
        <p:spPr>
          <a:xfrm>
            <a:off x="7543800" y="1874520"/>
            <a:ext cx="37490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CBD5E1">
                <a:alpha val="2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543800" y="1874520"/>
            <a:ext cx="73152" cy="32918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44968" y="2029968"/>
            <a:ext cx="34290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Workflow-centric orchestration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44968" y="2423160"/>
            <a:ext cx="3401568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64748B"/>
                </a:solidFill>
              </a:rPr>
              <a:t>• Flow approval bisa divisualkan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64748B"/>
                </a:solidFill>
              </a:rPr>
              <a:t>• Instance dan status lebih mudah ditelusuri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64748B"/>
                </a:solidFill>
              </a:rPr>
              <a:t>• Developer fokus pada integration point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64748B"/>
                </a:solidFill>
              </a:rPr>
              <a:t>• Diskusi dengan lead lebih terarah karena flow terlihat</a:t>
            </a:r>
            <a:endParaRPr lang="en-US" sz="1270" dirty="0"/>
          </a:p>
        </p:txBody>
      </p:sp>
      <p:sp>
        <p:nvSpPr>
          <p:cNvPr id="16" name="Shape 14"/>
          <p:cNvSpPr/>
          <p:nvPr/>
        </p:nvSpPr>
        <p:spPr>
          <a:xfrm>
            <a:off x="4800600" y="3502152"/>
            <a:ext cx="2468880" cy="0"/>
          </a:xfrm>
          <a:prstGeom prst="line">
            <a:avLst/>
          </a:prstGeom>
          <a:noFill/>
          <a:ln w="508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5120640" y="3063240"/>
            <a:ext cx="17830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563EB"/>
                </a:solidFill>
              </a:rPr>
              <a:t>Transformasi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10896"/>
            <a:ext cx="27432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</a:rPr>
              <a:t>Elsa Workflow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94360" y="594360"/>
            <a:ext cx="105156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</a:rPr>
              <a:t>Risiko &amp; Mitigasi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Developer perspective → Team Lead decision support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6984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Risiko tidak dihindari dengan menolak framework; risiko dikendalikan dengan boundary, standard, dan pilot scope yang jelas.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1783080"/>
            <a:ext cx="4754880" cy="566928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15000" y="1783080"/>
            <a:ext cx="5440680" cy="566928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947672"/>
            <a:ext cx="43434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60" b="1" dirty="0">
                <a:solidFill>
                  <a:srgbClr val="DC2626"/>
                </a:solidFill>
              </a:rPr>
              <a:t>Learning curve konsep Elsa</a:t>
            </a:r>
            <a:endParaRPr lang="en-US" sz="1160" dirty="0"/>
          </a:p>
        </p:txBody>
      </p:sp>
      <p:sp>
        <p:nvSpPr>
          <p:cNvPr id="10" name="Text 8"/>
          <p:cNvSpPr/>
          <p:nvPr/>
        </p:nvSpPr>
        <p:spPr>
          <a:xfrm>
            <a:off x="5897880" y="1901952"/>
            <a:ext cx="50749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0F172A"/>
                </a:solidFill>
              </a:rPr>
              <a:t>Workshop internal singkat: definition, instance, bookmark, variable, resume.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731520" y="2560320"/>
            <a:ext cx="4754880" cy="566928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15000" y="2560320"/>
            <a:ext cx="5440680" cy="566928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724912"/>
            <a:ext cx="43434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60" b="1" dirty="0">
                <a:solidFill>
                  <a:srgbClr val="DC2626"/>
                </a:solidFill>
              </a:rPr>
              <a:t>Endpoint approval tidak aman</a:t>
            </a:r>
            <a:endParaRPr lang="en-US" sz="1160" dirty="0"/>
          </a:p>
        </p:txBody>
      </p:sp>
      <p:sp>
        <p:nvSpPr>
          <p:cNvPr id="14" name="Text 12"/>
          <p:cNvSpPr/>
          <p:nvPr/>
        </p:nvSpPr>
        <p:spPr>
          <a:xfrm>
            <a:off x="5897880" y="2679192"/>
            <a:ext cx="50749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0F172A"/>
                </a:solidFill>
              </a:rPr>
              <a:t>Tokenized approval link, expiry, authorization, dan audit log.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731520" y="3337560"/>
            <a:ext cx="4754880" cy="566928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15000" y="3337560"/>
            <a:ext cx="5440680" cy="566928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502152"/>
            <a:ext cx="43434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60" b="1" dirty="0">
                <a:solidFill>
                  <a:srgbClr val="DC2626"/>
                </a:solidFill>
              </a:rPr>
              <a:t>Workflow terlalu banyak logic</a:t>
            </a:r>
            <a:endParaRPr lang="en-US" sz="1160" dirty="0"/>
          </a:p>
        </p:txBody>
      </p:sp>
      <p:sp>
        <p:nvSpPr>
          <p:cNvPr id="18" name="Text 16"/>
          <p:cNvSpPr/>
          <p:nvPr/>
        </p:nvSpPr>
        <p:spPr>
          <a:xfrm>
            <a:off x="5897880" y="3456432"/>
            <a:ext cx="50749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0F172A"/>
                </a:solidFill>
              </a:rPr>
              <a:t>Tetapkan rule: Elsa untuk orchestration; business validation tetap di service aplikasi.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731520" y="4114800"/>
            <a:ext cx="4754880" cy="566928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15000" y="4114800"/>
            <a:ext cx="5440680" cy="566928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279392"/>
            <a:ext cx="43434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60" b="1" dirty="0">
                <a:solidFill>
                  <a:srgbClr val="DC2626"/>
                </a:solidFill>
              </a:rPr>
              <a:t>Sulit debug saat gagal</a:t>
            </a:r>
            <a:endParaRPr lang="en-US" sz="1160" dirty="0"/>
          </a:p>
        </p:txBody>
      </p:sp>
      <p:sp>
        <p:nvSpPr>
          <p:cNvPr id="22" name="Text 20"/>
          <p:cNvSpPr/>
          <p:nvPr/>
        </p:nvSpPr>
        <p:spPr>
          <a:xfrm>
            <a:off x="5897880" y="4233672"/>
            <a:ext cx="50749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0F172A"/>
                </a:solidFill>
              </a:rPr>
              <a:t>Standarkan logging, incident path, retry, dan dashboard monitoring instance.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731520" y="4892040"/>
            <a:ext cx="4754880" cy="566928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715000" y="4892040"/>
            <a:ext cx="5440680" cy="566928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5056632"/>
            <a:ext cx="43434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60" b="1" dirty="0">
                <a:solidFill>
                  <a:srgbClr val="DC2626"/>
                </a:solidFill>
              </a:rPr>
              <a:t>Perubahan flow tidak terkontrol</a:t>
            </a:r>
            <a:endParaRPr lang="en-US" sz="1160" dirty="0"/>
          </a:p>
        </p:txBody>
      </p:sp>
      <p:sp>
        <p:nvSpPr>
          <p:cNvPr id="26" name="Text 24"/>
          <p:cNvSpPr/>
          <p:nvPr/>
        </p:nvSpPr>
        <p:spPr>
          <a:xfrm>
            <a:off x="5897880" y="5010912"/>
            <a:ext cx="50749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0F172A"/>
                </a:solidFill>
              </a:rPr>
              <a:t>Gunakan versioning workflow, review lead, dan changelog sebelum publish.</a:t>
            </a:r>
            <a:endParaRPr lang="en-US" sz="11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CE4FF-1D08-7036-E646-327CD1E85FFB}"/>
              </a:ext>
            </a:extLst>
          </p:cNvPr>
          <p:cNvSpPr txBox="1">
            <a:spLocks/>
          </p:cNvSpPr>
          <p:nvPr/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Conclusion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0BF19-ABF0-3EFB-D453-03FE48F29942}"/>
              </a:ext>
            </a:extLst>
          </p:cNvPr>
          <p:cNvSpPr txBox="1">
            <a:spLocks/>
          </p:cNvSpPr>
          <p:nvPr/>
        </p:nvSpPr>
        <p:spPr>
          <a:xfrm>
            <a:off x="913774" y="2367092"/>
            <a:ext cx="10363826" cy="342410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/>
              <a:t>Elsa Workflow provides a structured approach</a:t>
            </a:r>
            <a:br>
              <a:rPr lang="en-US"/>
            </a:br>
            <a:r>
              <a:rPr lang="en-US"/>
              <a:t>for managing approval-based business processes</a:t>
            </a:r>
            <a:br>
              <a:rPr lang="en-US"/>
            </a:br>
            <a:r>
              <a:rPr lang="en-US"/>
              <a:t>within the .NET application ecosystem.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2890518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729</Words>
  <Application>Microsoft Office PowerPoint</Application>
  <PresentationFormat>Widescreen</PresentationFormat>
  <Paragraphs>126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Elsa Workflow - Developer Perspective</dc:title>
  <dc:subject>Elsa Workflow presentation for team lead</dc:subject>
  <dc:creator>OpenAI</dc:creator>
  <cp:lastModifiedBy>michael martin</cp:lastModifiedBy>
  <cp:revision>2</cp:revision>
  <dcterms:created xsi:type="dcterms:W3CDTF">2026-05-26T13:09:22Z</dcterms:created>
  <dcterms:modified xsi:type="dcterms:W3CDTF">2026-05-26T13:21:37Z</dcterms:modified>
</cp:coreProperties>
</file>