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_wide_cinematic_modern_workspace_scene_in_a_dim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669280" cy="10058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Pemanfaatan AI
untuk Produktivitas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212848"/>
            <a:ext cx="512064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2BD3FF"/>
                </a:solidFill>
                <a:latin typeface="Aptos"/>
              </a:rPr>
              <a:t>ChatGPT • Claude • GitHub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3" y="2670048"/>
            <a:ext cx="7072744" cy="6093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40" b="0" dirty="0" err="1">
                <a:solidFill>
                  <a:srgbClr val="EAF2FF"/>
                </a:solidFill>
                <a:latin typeface="Aptos"/>
              </a:rPr>
              <a:t>Sudut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240" b="0" dirty="0" err="1">
                <a:solidFill>
                  <a:srgbClr val="EAF2FF"/>
                </a:solidFill>
                <a:latin typeface="Aptos"/>
              </a:rPr>
              <a:t>pandang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 developer kepada ketua </a:t>
            </a:r>
            <a:r>
              <a:rPr sz="1240" b="0" dirty="0" err="1">
                <a:solidFill>
                  <a:srgbClr val="EAF2FF"/>
                </a:solidFill>
                <a:latin typeface="Aptos"/>
              </a:rPr>
              <a:t>tim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: bagaimana AI membantu </a:t>
            </a:r>
            <a:r>
              <a:rPr sz="1240" b="0" dirty="0" err="1">
                <a:solidFill>
                  <a:srgbClr val="EAF2FF"/>
                </a:solidFill>
                <a:latin typeface="Aptos"/>
              </a:rPr>
              <a:t>pencarian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 informasi, </a:t>
            </a:r>
            <a:r>
              <a:rPr sz="1240" b="0" dirty="0" err="1">
                <a:solidFill>
                  <a:srgbClr val="EAF2FF"/>
                </a:solidFill>
                <a:latin typeface="Aptos"/>
              </a:rPr>
              <a:t>pembelajaran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, brainstorming, debugging, dan </a:t>
            </a:r>
            <a:r>
              <a:rPr sz="1240" b="0" dirty="0" err="1">
                <a:solidFill>
                  <a:srgbClr val="EAF2FF"/>
                </a:solidFill>
                <a:latin typeface="Aptos"/>
              </a:rPr>
              <a:t>pekerjaan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 coding </a:t>
            </a:r>
            <a:r>
              <a:rPr sz="1240" b="0" dirty="0" err="1">
                <a:solidFill>
                  <a:srgbClr val="EAF2FF"/>
                </a:solidFill>
                <a:latin typeface="Aptos"/>
              </a:rPr>
              <a:t>berskala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 besar — dengan tetap </a:t>
            </a:r>
            <a:r>
              <a:rPr sz="1240" b="0" dirty="0" err="1">
                <a:solidFill>
                  <a:srgbClr val="EAF2FF"/>
                </a:solidFill>
                <a:latin typeface="Aptos"/>
              </a:rPr>
              <a:t>dikontrol</a:t>
            </a:r>
            <a:r>
              <a:rPr sz="1240" b="0" dirty="0">
                <a:solidFill>
                  <a:srgbClr val="EAF2FF"/>
                </a:solidFill>
                <a:latin typeface="Aptos"/>
              </a:rPr>
              <a:t> oleh validasi manusia.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730752"/>
            <a:ext cx="1783080" cy="310896"/>
          </a:xfrm>
          <a:prstGeom prst="roundRect">
            <a:avLst/>
          </a:prstGeom>
          <a:solidFill>
            <a:srgbClr val="1B66D2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3803904"/>
            <a:ext cx="1645920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Internal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1. Nama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Identitas presenter dan konteks peran dalam penggunaan AI.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00200"/>
            <a:ext cx="1325880" cy="1325880"/>
          </a:xfrm>
          <a:prstGeom prst="ellipse">
            <a:avLst/>
          </a:prstGeom>
          <a:solidFill>
            <a:srgbClr val="102B55"/>
          </a:solidFill>
          <a:ln w="254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132588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572768"/>
            <a:ext cx="5303520" cy="32918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Michael Martin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1975104"/>
            <a:ext cx="530352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2BD3FF"/>
                </a:solidFill>
                <a:latin typeface="Aptos"/>
              </a:rPr>
              <a:t>Developer • Team Caturandy Jadiwira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606040"/>
            <a:ext cx="6949440" cy="1234440"/>
          </a:xfrm>
          <a:prstGeom prst="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1720" y="2606040"/>
            <a:ext cx="73152" cy="1234440"/>
          </a:xfrm>
          <a:prstGeom prst="rect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2715768"/>
            <a:ext cx="6656831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Konteks presentasi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3" y="3008376"/>
            <a:ext cx="6656830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 err="1">
                <a:solidFill>
                  <a:srgbClr val="EAF2FF"/>
                </a:solidFill>
                <a:latin typeface="Aptos"/>
              </a:rPr>
              <a:t>Penggunaan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AI dalam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pekerjaan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harian developer: mencari informasi,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memahami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codebase, membantu debugging,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membuat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draft konsep, dan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mempercepat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proses belajar.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4069080"/>
            <a:ext cx="6949440" cy="987552"/>
          </a:xfrm>
          <a:prstGeom prst="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31720" y="4069080"/>
            <a:ext cx="73152" cy="987552"/>
          </a:xfrm>
          <a:prstGeom prst="rect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96312" y="4178808"/>
            <a:ext cx="6656831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Posisi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4471416"/>
            <a:ext cx="6656831" cy="5303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AF2FF"/>
                </a:solidFill>
                <a:latin typeface="Aptos"/>
              </a:rPr>
              <a:t>AI diposisikan sebagai rekan berpikir dan accelerator, bukan pengganti review teknis atau keputusan manusia.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2. AI yang Digunakan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Pembagian peran dibuat berdasarkan kebutuhan: diskusi umum, analisis, dan coding langsung.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18688" cy="297180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" y="1874519"/>
            <a:ext cx="621792" cy="621792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621792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01952"/>
            <a:ext cx="192024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97480"/>
            <a:ext cx="2697480" cy="5678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AF2FF"/>
                </a:solidFill>
                <a:latin typeface="Aptos"/>
              </a:rPr>
              <a:t>Diskusi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eksplorasi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ide,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pembelajaran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tanya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-jawab teknis, bantuan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membaca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gambar/foto.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218688" cy="297180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B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36007" y="1874519"/>
            <a:ext cx="621792" cy="621792"/>
          </a:xfrm>
          <a:prstGeom prst="ellipse">
            <a:avLst/>
          </a:prstGeom>
          <a:solidFill>
            <a:srgbClr val="B8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2029968"/>
            <a:ext cx="621792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59" y="1901952"/>
            <a:ext cx="192024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697480"/>
            <a:ext cx="2697480" cy="5678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 dirty="0" err="1">
                <a:solidFill>
                  <a:srgbClr val="EAF2FF"/>
                </a:solidFill>
                <a:latin typeface="Aptos"/>
              </a:rPr>
              <a:t>Alternatif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diskusi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/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analisis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untuk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membandingkan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sudut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pandang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dan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memperkaya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reasoning.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218688" cy="297180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48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39328" y="1874519"/>
            <a:ext cx="621792" cy="621792"/>
          </a:xfrm>
          <a:prstGeom prst="ellipse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029968"/>
            <a:ext cx="621792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901952"/>
            <a:ext cx="192024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GitHub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697480"/>
            <a:ext cx="2697480" cy="5678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50" b="0" dirty="0">
                <a:solidFill>
                  <a:srgbClr val="EAF2FF"/>
                </a:solidFill>
                <a:latin typeface="Aptos"/>
              </a:rPr>
              <a:t>Bantuan coding di Visual Studio: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membaca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EAF2FF"/>
                </a:solidFill>
                <a:latin typeface="Aptos"/>
              </a:rPr>
              <a:t>konteks</a:t>
            </a:r>
            <a:r>
              <a:rPr sz="1150" b="0" dirty="0">
                <a:solidFill>
                  <a:srgbClr val="EAF2FF"/>
                </a:solidFill>
                <a:latin typeface="Aptos"/>
              </a:rPr>
              <a:t> file, model, dependency, dan selection.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24128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2BD3FF"/>
                </a:solidFill>
                <a:latin typeface="Aptos"/>
              </a:rPr>
              <a:t>Kesimpulan: ChatGPT/Claude lebih kuat untuk reasoning dan eksplorasi; Copilot lebih kuat untuk konteks kode langsung di 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3. Digunakan untuk Apa?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Fokus penggunaan berada pada peningkatan kualitas berpikir dan kecepatan kerja harian.</a:t>
            </a:r>
          </a:p>
        </p:txBody>
      </p:sp>
      <p:pic>
        <p:nvPicPr>
          <p:cNvPr id="5" name="Picture 4" descr="a_wide_cinematic_tech_workspace_scene_in_a_dark.png"/>
          <p:cNvPicPr>
            <a:picLocks noChangeAspect="1"/>
          </p:cNvPicPr>
          <p:nvPr/>
        </p:nvPicPr>
        <p:blipFill>
          <a:blip r:embed="rId2"/>
          <a:srcRect l="19490" r="19490"/>
          <a:stretch>
            <a:fillRect/>
          </a:stretch>
        </p:blipFill>
        <p:spPr>
          <a:xfrm>
            <a:off x="6903720" y="1097280"/>
            <a:ext cx="470916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5349240" cy="2194560"/>
          </a:xfrm>
          <a:prstGeom prst="rect">
            <a:avLst/>
          </a:prstGeom>
          <a:noFill/>
        </p:spPr>
        <p:txBody>
          <a:bodyPr wrap="none" lIns="54864" tIns="18288" rIns="36576" bIns="18288">
            <a:spAutoFit/>
          </a:bodyPr>
          <a:lstStyle/>
          <a:p>
            <a:pPr marL="342900" indent="-171450"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Mencari informasi dan memahami topik baru dengan lebih cepat.</a:t>
            </a:r>
          </a:p>
          <a:p>
            <a:pPr marL="342900" indent="-171450"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Membantu membaca atau mengurai codebase besar.</a:t>
            </a:r>
          </a:p>
          <a:p>
            <a:pPr marL="342900" indent="-171450"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Brainstorming alternatif solusi sebelum implementasi.</a:t>
            </a:r>
          </a:p>
          <a:p>
            <a:pPr marL="342900" indent="-171450"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Menguji asumsi teknis dan merapikan ide.</a:t>
            </a:r>
          </a:p>
          <a:p>
            <a:pPr marL="342900" indent="-171450">
              <a:spcAft>
                <a:spcPts val="5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Membantu menyusun materi presentasi atau penjelasan teknis.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3977639"/>
            <a:ext cx="5349240" cy="1115568"/>
          </a:xfrm>
          <a:prstGeom prst="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" y="3977639"/>
            <a:ext cx="73152" cy="1115568"/>
          </a:xfrm>
          <a:prstGeom prst="rect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4087368"/>
            <a:ext cx="5056631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Contoh konteks kerja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4379976"/>
            <a:ext cx="5126736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AF2FF"/>
                </a:solidFill>
                <a:latin typeface="Aptos"/>
              </a:rPr>
              <a:t>Saat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ada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dependency, model, workflow, page, atau proses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bisnis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yang besar, AI membantu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mempercepat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pemetaan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masalah sebelum masuk ke debugging/implementation.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4. Technical Flow Penggunaan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Alur umum yang saya pakai agar bantuan AI tetap terarah dan bisa divalidasi.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874519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56815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417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2" y="2075688"/>
            <a:ext cx="457199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971800" y="1874519"/>
            <a:ext cx="384048" cy="384048"/>
          </a:xfrm>
          <a:prstGeom prst="ellipse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956815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2423160"/>
            <a:ext cx="1417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67911" y="2075688"/>
            <a:ext cx="457201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846320" y="1874519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956815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423160"/>
            <a:ext cx="1417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42432" y="2075688"/>
            <a:ext cx="457199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20840" y="1874519"/>
            <a:ext cx="384048" cy="384048"/>
          </a:xfrm>
          <a:prstGeom prst="ellipse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956815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23160"/>
            <a:ext cx="1417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16952" y="2075688"/>
            <a:ext cx="457200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595360" y="1874519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1956815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423160"/>
            <a:ext cx="1417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Apply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91472" y="2075688"/>
            <a:ext cx="457200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469880" y="1874519"/>
            <a:ext cx="384048" cy="384048"/>
          </a:xfrm>
          <a:prstGeom prst="ellipse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69880" y="1956815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423160"/>
            <a:ext cx="1417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6120"/>
            <a:ext cx="10424160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>
                <a:solidFill>
                  <a:srgbClr val="EAF2FF"/>
                </a:solidFill>
                <a:latin typeface="Aptos"/>
              </a:rPr>
              <a:t>1. Context: jelaskan tujuan dan batasan  •  2. Ask: ajukan pertanyaan spesifik  •  3. Compare: bandingkan jawaban/tools  •  4. Validate: cek dokumentasi, code, dan logic bisnis  •  5. Apply: implementasi bertahap  •  6. Review: test, refactor, dan monitor hasil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4572000"/>
            <a:ext cx="9829800" cy="868680"/>
          </a:xfrm>
          <a:prstGeom prst="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88720" y="4572000"/>
            <a:ext cx="73152" cy="868680"/>
          </a:xfrm>
          <a:prstGeom prst="rect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53312" y="4681728"/>
            <a:ext cx="953719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Prinsip utama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4974336"/>
            <a:ext cx="9537192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AF2FF"/>
                </a:solidFill>
                <a:latin typeface="Aptos"/>
              </a:rPr>
              <a:t>Semakin lengkap konteks yang diberikan, semakin kecil risiko AI menebak. Untuk coding, konteks terbaik biasanya berasal dari file aktif, selection code, error message, dan dependency yang relevan.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5. Step Technical — ChatGPT /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Dipakai untuk reasoning, pembelajaran, diskusi desain solusi, dan penyusunan materi.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3441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Tentukan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441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Memahami error, membuat flow, review logic, atau menyiapkan bahan presentasi.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93391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756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029967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Berikan konteks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29967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Role developer, tech stack, versi library, kondisi project, batasan, dan audience.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679191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157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Lampirkan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7157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Foto, error message, potongan code, JSON workflow, struktur tabel, atau screenshot.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364991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4472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4015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Minta output spesifik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4015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Tabel, step-by-step, risiko, contoh prompt, code sample, atau executive summary.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050791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1330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0873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Iterasi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0873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Minta versi lebih singkat/detail, sudut pandang team lead, atau opsi alternatif.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736592"/>
            <a:ext cx="384048" cy="384048"/>
          </a:xfrm>
          <a:prstGeom prst="ellipse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818888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7731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Validasi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7731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Cek ulang ke dokumentasi, project, unit test, dan logic bisnis sebelum dipakai.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486400"/>
            <a:ext cx="10881360" cy="621792"/>
          </a:xfrm>
          <a:prstGeom prst="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5486400"/>
            <a:ext cx="73152" cy="621792"/>
          </a:xfrm>
          <a:prstGeom prst="rect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596128"/>
            <a:ext cx="1058875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Output yang paling berguna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888736"/>
            <a:ext cx="1058875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AF2FF"/>
                </a:solidFill>
                <a:latin typeface="Aptos"/>
              </a:rPr>
              <a:t>Bukan hanya jawaban final, tetapi langkah kerja, asumsi yang perlu dicek, risiko, dan alternatif solusi.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6. Step Technical — GitHub Copilot di Visual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Dipakai ketika konteks code langsung lebih penting dibanding diskusi umum.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307592"/>
            <a:ext cx="384048" cy="384048"/>
          </a:xfrm>
          <a:prstGeom prst="ellipse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3441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Buka konteks kerja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441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Buka file/page/model/service yang sedang ingin dianalisis di Visual Studio.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93391"/>
            <a:ext cx="384048" cy="384048"/>
          </a:xfrm>
          <a:prstGeom prst="ellipse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756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029967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Pilih konteks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029967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Gunakan active document untuk gambaran umum atau selection untuk bagian penting.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679191"/>
            <a:ext cx="384048" cy="384048"/>
          </a:xfrm>
          <a:prstGeom prst="ellipse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157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Tanyakan spesifik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7157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Contoh: cek dependency, jelaskan flow, cari branch belum ter-cover, review null risk.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364991"/>
            <a:ext cx="384048" cy="384048"/>
          </a:xfrm>
          <a:prstGeom prst="ellipse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4472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4015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Minta actionable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4015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Daftar file terkait, root cause, risiko, test case, atau patch kecil yang bisa direview.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050791"/>
            <a:ext cx="384048" cy="384048"/>
          </a:xfrm>
          <a:prstGeom prst="ellipse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133087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0873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Terapkan bertahap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0873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Jangan langsung semua saran. Ambil bagian kecil, build, test, lalu lanjut.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736592"/>
            <a:ext cx="384048" cy="384048"/>
          </a:xfrm>
          <a:prstGeom prst="ellipse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818888"/>
            <a:ext cx="38404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773168"/>
            <a:ext cx="1874519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Review hasil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773168"/>
            <a:ext cx="6903720" cy="24688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80" b="0">
                <a:solidFill>
                  <a:srgbClr val="EAF2FF"/>
                </a:solidFill>
                <a:latin typeface="Aptos"/>
              </a:rPr>
              <a:t>Pastikan tidak mengubah behavior, tidak bocorkan data, dan sesuai standard project.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486400"/>
            <a:ext cx="10881360" cy="621792"/>
          </a:xfrm>
          <a:prstGeom prst="rect">
            <a:avLst/>
          </a:prstGeom>
          <a:solidFill>
            <a:srgbClr val="0D274B"/>
          </a:solidFill>
          <a:ln w="12700">
            <a:solidFill>
              <a:srgbClr val="48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5486400"/>
            <a:ext cx="73152" cy="621792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596128"/>
            <a:ext cx="1058875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Kelebihan Copilot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888736"/>
            <a:ext cx="1058875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AF2FF"/>
                </a:solidFill>
                <a:latin typeface="Aptos"/>
              </a:rPr>
              <a:t>Integrasi IDE membuat Copilot bisa memanfaatkan konteks file yang sedang dibuka, selection code, model, dan dependency sehingga cocok untuk pekerjaan coding langsung.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7. Step-by-Step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Pola prompting yang biasa saya gunakan agar jawaban AI lebih relevan, terarah, dan mudah divalidasi.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91056"/>
            <a:ext cx="1874519" cy="237744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600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Peran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600198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dirty="0">
                <a:solidFill>
                  <a:srgbClr val="EAF2FF"/>
                </a:solidFill>
                <a:latin typeface="Aptos"/>
              </a:rPr>
              <a:t>Saya sebagai developer / presenter / reviewer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39" y="2697480"/>
            <a:ext cx="292609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90088" y="1591056"/>
            <a:ext cx="1874519" cy="237744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1828800"/>
            <a:ext cx="1600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Konteks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331720"/>
            <a:ext cx="1600200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dirty="0">
                <a:solidFill>
                  <a:srgbClr val="EAF2FF"/>
                </a:solidFill>
                <a:latin typeface="Aptos"/>
              </a:rPr>
              <a:t>Project, library, versi, flow, file/page, 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64608" y="2697480"/>
            <a:ext cx="292608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48656" y="1591056"/>
            <a:ext cx="1874519" cy="237744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85816" y="1828800"/>
            <a:ext cx="1600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Masalah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1536" y="2331720"/>
            <a:ext cx="1508760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dirty="0" err="1">
                <a:solidFill>
                  <a:srgbClr val="EAF2FF"/>
                </a:solidFill>
                <a:latin typeface="Aptos"/>
              </a:rPr>
              <a:t>Apa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yang ingin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diselesaikan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atau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dianalisis</a:t>
            </a:r>
            <a:endParaRPr sz="1050" b="0" dirty="0">
              <a:solidFill>
                <a:srgbClr val="EAF2FF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123176" y="2697480"/>
            <a:ext cx="292607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07224" y="1591056"/>
            <a:ext cx="1874519" cy="237744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44384" y="1828800"/>
            <a:ext cx="1600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Batasan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0104" y="2331720"/>
            <a:ext cx="1554480" cy="52168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dirty="0">
                <a:solidFill>
                  <a:srgbClr val="EAF2FF"/>
                </a:solidFill>
                <a:latin typeface="Aptos"/>
              </a:rPr>
              <a:t>Jangan ubah behavior, data rahasia, deadline,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standar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project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81744" y="2697480"/>
            <a:ext cx="292608" cy="0"/>
          </a:xfrm>
          <a:prstGeom prst="line">
            <a:avLst/>
          </a:prstGeom>
          <a:ln w="19050">
            <a:solidFill>
              <a:srgbClr val="9FB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65792" y="1591056"/>
            <a:ext cx="1874519" cy="2377440"/>
          </a:xfrm>
          <a:prstGeom prst="round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02952" y="1828800"/>
            <a:ext cx="1600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331720"/>
            <a:ext cx="1554480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050" b="0" dirty="0" err="1">
                <a:solidFill>
                  <a:srgbClr val="EAF2FF"/>
                </a:solidFill>
                <a:latin typeface="Aptos"/>
              </a:rPr>
              <a:t>Tabel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, step, code,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risiko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, executive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2BD3FF"/>
                </a:solidFill>
                <a:latin typeface="Aptos"/>
              </a:rPr>
              <a:t>Format cepat: “Saya [peran], sedang [konteks]. Masalahnya [problem]. Batasannya [constraint]. Tolong buat [output] dengan [format].”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93792"/>
            <a:ext cx="9784080" cy="3474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50" b="0">
                <a:solidFill>
                  <a:srgbClr val="EAF2FF"/>
                </a:solidFill>
                <a:latin typeface="Aptos"/>
              </a:rPr>
              <a:t>Dengan format ini, AI tidak hanya menjawab secara umum, tetapi diarahkan untuk membantu pekerjaan spesifik yang sedang dikerjakan.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8. Contoh Prompt yang Biasa Dipakai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Contoh prompt dibuat untuk kebutuhan kerja teknis: workflow, coverage, review code, dan materi presentasi.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5303520" cy="1417320"/>
          </a:xfrm>
          <a:prstGeom prst="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5029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2BD3FF"/>
                </a:solidFill>
                <a:latin typeface="Aptos"/>
              </a:rPr>
              <a:t>Elsa Workflow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5029200" cy="5539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40" b="0" dirty="0">
                <a:solidFill>
                  <a:srgbClr val="EAF2FF"/>
                </a:solidFill>
                <a:latin typeface="Aptos"/>
              </a:rPr>
              <a:t>Saya developer .NET sedang pakai Elsa Workflow untuk approval. Flow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saya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: HTTP Endpoint → variable email → Send Email → Wait Approval → lanjut proses. Tolong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cek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rancangan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ini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dari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sisi workflow instance/bookmark, endpoint approval, security, dan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risiko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jika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banyak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instance berjalan bersamaan.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Berikan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step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implementasi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dan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hal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yang perlu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divalidasi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234440"/>
            <a:ext cx="5303520" cy="1417320"/>
          </a:xfrm>
          <a:prstGeom prst="rect">
            <a:avLst/>
          </a:prstGeom>
          <a:solidFill>
            <a:srgbClr val="0D274B"/>
          </a:solidFill>
          <a:ln w="12700">
            <a:solidFill>
              <a:srgbClr val="48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344168"/>
            <a:ext cx="5029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48C78E"/>
                </a:solidFill>
                <a:latin typeface="Aptos"/>
              </a:rPr>
              <a:t>SonarQube /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636776"/>
            <a:ext cx="5004816" cy="424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40" b="0" dirty="0">
                <a:solidFill>
                  <a:srgbClr val="EAF2FF"/>
                </a:solidFill>
                <a:latin typeface="Aptos"/>
              </a:rPr>
              <a:t>Saya punya method berikut dan SonarQube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menandai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partially covered pada beberapa if/else. Tolong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baca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selection code ini,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petakan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semua branch condition, lalu buat daftar test case tambahan agar coverage branch lebih lengkap tanpa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mengubah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behavior existing.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944368"/>
            <a:ext cx="5303520" cy="1325880"/>
          </a:xfrm>
          <a:prstGeom prst="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3054096"/>
            <a:ext cx="5029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1B66D2"/>
                </a:solidFill>
                <a:latin typeface="Aptos"/>
              </a:rPr>
              <a:t>Copilot di Visual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346704"/>
            <a:ext cx="5010912" cy="424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40" b="0">
                <a:solidFill>
                  <a:srgbClr val="EAF2FF"/>
                </a:solidFill>
                <a:latin typeface="Aptos"/>
              </a:rPr>
              <a:t>Baca active document dan dependency yang terkait. Tolong jelaskan flow dari page ini, model apa saja yang dipakai, service/repository mana yang dipanggil, dan kemungkinan error null atau dependency injection yang perlu saya cek sebelum refactor.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944368"/>
            <a:ext cx="5303520" cy="1325880"/>
          </a:xfrm>
          <a:prstGeom prst="rect">
            <a:avLst/>
          </a:prstGeom>
          <a:solidFill>
            <a:srgbClr val="0D274B"/>
          </a:solidFill>
          <a:ln w="12700">
            <a:solidFill>
              <a:srgbClr val="B8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3054096"/>
            <a:ext cx="5029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B874FF"/>
                </a:solidFill>
                <a:latin typeface="Aptos"/>
              </a:rPr>
              <a:t>Membuat Materi untuk Atasan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346704"/>
            <a:ext cx="5029200" cy="424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40" b="0" dirty="0">
                <a:solidFill>
                  <a:srgbClr val="EAF2FF"/>
                </a:solidFill>
                <a:latin typeface="Aptos"/>
              </a:rPr>
              <a:t>Saya ingin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presentasi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ke ketua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tim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dari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sudut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pandang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developer.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Topiknya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penggunaan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AI untuk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produktivitas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. Tolong ubah penjelasan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saya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menjadi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poin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presentasi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yang rapi: objective, tools, step teknis, before-after,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risiko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, dan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rekomendasi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implementasi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608576"/>
            <a:ext cx="5303520" cy="1078992"/>
          </a:xfrm>
          <a:prstGeom prst="rect">
            <a:avLst/>
          </a:prstGeom>
          <a:solidFill>
            <a:srgbClr val="0D274B"/>
          </a:solidFill>
          <a:ln w="12700">
            <a:solidFill>
              <a:srgbClr val="F3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18304"/>
            <a:ext cx="5029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F3B454"/>
                </a:solidFill>
                <a:latin typeface="Aptos"/>
              </a:rPr>
              <a:t>Debugging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010912"/>
            <a:ext cx="5010912" cy="424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40" b="0" dirty="0">
                <a:solidFill>
                  <a:srgbClr val="EAF2FF"/>
                </a:solidFill>
                <a:latin typeface="Aptos"/>
              </a:rPr>
              <a:t>Saya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mendapatkan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error berikut di server,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tetapi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local normal. Tolong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bantu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buat checklist debugging: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konfigurasi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environment, dependency, permission, connection string, log yang perlu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dicek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, dan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prioritas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langkah paling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aman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4608576"/>
            <a:ext cx="5303520" cy="1078992"/>
          </a:xfrm>
          <a:prstGeom prst="rect">
            <a:avLst/>
          </a:prstGeom>
          <a:solidFill>
            <a:srgbClr val="0D274B"/>
          </a:solidFill>
          <a:ln w="12700">
            <a:solidFill>
              <a:srgbClr val="E65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4718304"/>
            <a:ext cx="5029200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E65E6B"/>
                </a:solidFill>
                <a:latin typeface="Aptos"/>
              </a:rPr>
              <a:t>Code Review Aman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5010912"/>
            <a:ext cx="5029200" cy="2954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40" b="0" dirty="0">
                <a:solidFill>
                  <a:srgbClr val="EAF2FF"/>
                </a:solidFill>
                <a:latin typeface="Aptos"/>
              </a:rPr>
              <a:t>Tolong review code ini hanya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dari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sisi readability, maintainability, null safety, dan potential bug. Jangan langsung generate full rewrite.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Berikan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rekomendasi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kecil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bertahap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beserta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840" b="0" dirty="0" err="1">
                <a:solidFill>
                  <a:srgbClr val="EAF2FF"/>
                </a:solidFill>
                <a:latin typeface="Aptos"/>
              </a:rPr>
              <a:t>risiko</a:t>
            </a:r>
            <a:r>
              <a:rPr sz="840" b="0" dirty="0">
                <a:solidFill>
                  <a:srgbClr val="EAF2FF"/>
                </a:solidFill>
                <a:latin typeface="Aptos"/>
              </a:rPr>
              <a:t> perubahan.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9.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Perubahan paling terasa ada pada kecepatan belajar, arah debugging, dan kualitas diskusi.</a:t>
            </a:r>
          </a:p>
        </p:txBody>
      </p:sp>
      <p:pic>
        <p:nvPicPr>
          <p:cNvPr id="5" name="Picture 4" descr="wide_horizontal_split_comparison_scene_in_a_clean.png"/>
          <p:cNvPicPr>
            <a:picLocks noChangeAspect="1"/>
          </p:cNvPicPr>
          <p:nvPr/>
        </p:nvPicPr>
        <p:blipFill>
          <a:blip r:embed="rId2"/>
          <a:srcRect t="25670" b="25670"/>
          <a:stretch>
            <a:fillRect/>
          </a:stretch>
        </p:blipFill>
        <p:spPr>
          <a:xfrm>
            <a:off x="594360" y="1234440"/>
            <a:ext cx="110185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2688" y="4526280"/>
            <a:ext cx="20116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7" y="4892040"/>
            <a:ext cx="5053333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dirty="0">
                <a:solidFill>
                  <a:srgbClr val="EAF2FF"/>
                </a:solidFill>
                <a:latin typeface="Aptos"/>
              </a:rPr>
              <a:t>Lebih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banyak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 mencari manual di Stack Overflow /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dokumentasi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, lalu try-error sendiri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ketika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konteks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 tidak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tersedia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4526280"/>
            <a:ext cx="20116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2BD3FF"/>
                </a:solidFill>
                <a:latin typeface="Aptos"/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892040"/>
            <a:ext cx="516636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0" dirty="0">
                <a:solidFill>
                  <a:srgbClr val="EAF2FF"/>
                </a:solidFill>
                <a:latin typeface="Aptos"/>
              </a:rPr>
              <a:t>Belajar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topik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 baru lebih cepat, bisa brainstorming, dan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solusi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 lebih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terarah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 sebelum </a:t>
            </a:r>
            <a:r>
              <a:rPr sz="1200" b="0" dirty="0" err="1">
                <a:solidFill>
                  <a:srgbClr val="EAF2FF"/>
                </a:solidFill>
                <a:latin typeface="Aptos"/>
              </a:rPr>
              <a:t>eksekusi</a:t>
            </a:r>
            <a:r>
              <a:rPr sz="1200" b="0" dirty="0">
                <a:solidFill>
                  <a:srgbClr val="EAF2FF"/>
                </a:solidFill>
                <a:latin typeface="Aptos"/>
              </a:rPr>
              <a:t> teknis.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5879592"/>
            <a:ext cx="92354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00" b="1">
                <a:solidFill>
                  <a:srgbClr val="F3B454"/>
                </a:solidFill>
                <a:latin typeface="Aptos"/>
              </a:rPr>
              <a:t>Catatan: AI mempercepat arah, bukan menjamin kebenaran. Semua hasil tetap harus diuji dan dimonitor.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10. Matrix Dampak Waktu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Estimasi dampak penggunaan AI berdasarkan pengalaman pribadi; angka dapat berbeda tergantung kompleksitas task.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3154680" cy="658368"/>
          </a:xfrm>
          <a:prstGeom prst="rect">
            <a:avLst/>
          </a:prstGeom>
          <a:solidFill>
            <a:srgbClr val="123A70"/>
          </a:solidFill>
          <a:ln w="889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2971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70" b="1">
                <a:solidFill>
                  <a:srgbClr val="FFFFFF"/>
                </a:solidFill>
                <a:latin typeface="Aptos"/>
              </a:rPr>
              <a:t>Aktivitas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234440"/>
            <a:ext cx="1737360" cy="658368"/>
          </a:xfrm>
          <a:prstGeom prst="rect">
            <a:avLst/>
          </a:prstGeom>
          <a:solidFill>
            <a:srgbClr val="123A70"/>
          </a:solidFill>
          <a:ln w="889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77639" y="1399032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70" b="1">
                <a:solidFill>
                  <a:srgbClr val="FFFFFF"/>
                </a:solidFill>
                <a:latin typeface="Aptos"/>
              </a:rPr>
              <a:t>Sebelum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234440"/>
            <a:ext cx="1737360" cy="658368"/>
          </a:xfrm>
          <a:prstGeom prst="rect">
            <a:avLst/>
          </a:prstGeom>
          <a:solidFill>
            <a:srgbClr val="123A70"/>
          </a:solidFill>
          <a:ln w="889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79" y="1399032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70" b="1">
                <a:solidFill>
                  <a:srgbClr val="FFFFFF"/>
                </a:solidFill>
                <a:latin typeface="Aptos"/>
              </a:rPr>
              <a:t>Dengan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234440"/>
            <a:ext cx="3730752" cy="658368"/>
          </a:xfrm>
          <a:prstGeom prst="rect">
            <a:avLst/>
          </a:prstGeom>
          <a:solidFill>
            <a:srgbClr val="123A70"/>
          </a:solidFill>
          <a:ln w="889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19" y="1399032"/>
            <a:ext cx="354787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70" b="1">
                <a:solidFill>
                  <a:srgbClr val="FFFFFF"/>
                </a:solidFill>
                <a:latin typeface="Aptos"/>
              </a:rPr>
              <a:t>Manfaat utama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892808"/>
            <a:ext cx="315468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057400"/>
            <a:ext cx="2971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Memahami topik/library baru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1892808"/>
            <a:ext cx="173736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77639" y="2057400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1–2 jam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892808"/>
            <a:ext cx="173736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97879" y="2057400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20–40 menit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1892808"/>
            <a:ext cx="3730752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19" y="2057400"/>
            <a:ext cx="354787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Arah belajar lebih cepat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2551176"/>
            <a:ext cx="3154680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715768"/>
            <a:ext cx="2971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Mapping codebase / page besar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551176"/>
            <a:ext cx="1737360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77639" y="2715768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1–2 hari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551176"/>
            <a:ext cx="1737360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7879" y="2715768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2–4 jam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551176"/>
            <a:ext cx="3730752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19" y="2715768"/>
            <a:ext cx="354787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Lebih cepat menemukan flow &amp; dependency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3209544"/>
            <a:ext cx="315468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3374136"/>
            <a:ext cx="2971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Debugging masalah luas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3209544"/>
            <a:ext cx="173736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77639" y="3374136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2–4 jam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209544"/>
            <a:ext cx="173736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97879" y="3374136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45–90 menit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3209544"/>
            <a:ext cx="3730752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19" y="3374136"/>
            <a:ext cx="354787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Checklist lebih terarah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3867912"/>
            <a:ext cx="3154680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4032504"/>
            <a:ext cx="2971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Menyusun test case coverage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3867912"/>
            <a:ext cx="1737360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77639" y="4032504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2–3 jam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3867912"/>
            <a:ext cx="1737360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97879" y="4032504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45–90 menit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3867912"/>
            <a:ext cx="3730752" cy="658368"/>
          </a:xfrm>
          <a:prstGeom prst="rect">
            <a:avLst/>
          </a:prstGeom>
          <a:solidFill>
            <a:srgbClr val="0A203F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19" y="4032504"/>
            <a:ext cx="354787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Branch condition lebih mudah dipetakan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4526279"/>
            <a:ext cx="315468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" y="4690871"/>
            <a:ext cx="2971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Membuat draft materi/email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4526279"/>
            <a:ext cx="173736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77639" y="4690871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1–2 jam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4526279"/>
            <a:ext cx="1737360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97879" y="4690871"/>
            <a:ext cx="155448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20–30 menit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79" y="4526279"/>
            <a:ext cx="3730752" cy="658368"/>
          </a:xfrm>
          <a:prstGeom prst="rect">
            <a:avLst/>
          </a:prstGeom>
          <a:solidFill>
            <a:srgbClr val="0D274B"/>
          </a:solidFill>
          <a:ln w="8890">
            <a:solidFill>
              <a:srgbClr val="244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18119" y="4690871"/>
            <a:ext cx="354787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60" b="0">
                <a:solidFill>
                  <a:srgbClr val="EAF2FF"/>
                </a:solidFill>
                <a:latin typeface="Aptos"/>
              </a:rPr>
              <a:t>Struktur awal lebih cepat jadi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1" y="5559552"/>
            <a:ext cx="10910017" cy="4216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50" b="1">
                <a:solidFill>
                  <a:srgbClr val="2BD3FF"/>
                </a:solidFill>
                <a:latin typeface="Aptos"/>
              </a:rPr>
              <a:t>Interpretasi: manfaat terbesar bukan hanya “lebih cepat mengetik”, tetapi lebih cepat menemukan arah, mengurangi blind try-error, dan membantu memvalidasi asumsi sebelum implementasi.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11. Governance: AI Perlu Dikendalikan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AI membantu mempercepat pekerjaan, tetapi tetap memiliki risiko sehingga perlu cara pakai yang disiplin.</a:t>
            </a:r>
          </a:p>
        </p:txBody>
      </p:sp>
      <p:pic>
        <p:nvPicPr>
          <p:cNvPr id="5" name="Picture 4" descr="wide_clean_corporate_tech_illustration_scene_a_m.png"/>
          <p:cNvPicPr>
            <a:picLocks noChangeAspect="1"/>
          </p:cNvPicPr>
          <p:nvPr/>
        </p:nvPicPr>
        <p:blipFill>
          <a:blip r:embed="rId2"/>
          <a:srcRect l="18108" r="18108"/>
          <a:stretch>
            <a:fillRect/>
          </a:stretch>
        </p:blipFill>
        <p:spPr>
          <a:xfrm>
            <a:off x="6629400" y="1143000"/>
            <a:ext cx="466344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5166360" cy="868680"/>
          </a:xfrm>
          <a:prstGeom prst="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868680"/>
          </a:xfrm>
          <a:prstGeom prst="rect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27048"/>
            <a:ext cx="487375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Validasi wajib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19656"/>
            <a:ext cx="4873752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AF2FF"/>
                </a:solidFill>
                <a:latin typeface="Aptos"/>
              </a:rPr>
              <a:t>Output AI bisa salah, kurang konteks, atau terlihat benar tetapi logic-nya tidak sesuai.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87168"/>
            <a:ext cx="5166360" cy="868680"/>
          </a:xfrm>
          <a:prstGeom prst="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487168"/>
            <a:ext cx="73152" cy="868680"/>
          </a:xfrm>
          <a:prstGeom prst="rect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596896"/>
            <a:ext cx="487375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Jangan asal copy-paste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89504"/>
            <a:ext cx="4873752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AF2FF"/>
                </a:solidFill>
                <a:latin typeface="Aptos"/>
              </a:rPr>
              <a:t>Kode harus dibaca ulang, diuji, dan disesuaikan dengan standard project.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57016"/>
            <a:ext cx="5166360" cy="868680"/>
          </a:xfrm>
          <a:prstGeom prst="rect">
            <a:avLst/>
          </a:prstGeom>
          <a:solidFill>
            <a:srgbClr val="0D274B"/>
          </a:solidFill>
          <a:ln w="12700">
            <a:solidFill>
              <a:srgbClr val="F3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557016"/>
            <a:ext cx="73152" cy="868680"/>
          </a:xfrm>
          <a:prstGeom prst="rect">
            <a:avLst/>
          </a:prstGeom>
          <a:solidFill>
            <a:srgbClr val="F3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666744"/>
            <a:ext cx="487375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Lindungi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59352"/>
            <a:ext cx="4873752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EAF2FF"/>
                </a:solidFill>
                <a:latin typeface="Aptos"/>
              </a:rPr>
              <a:t>Hindari memasukkan credential, data rahasia, atau informasi internal yang tidak perlu.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26864"/>
            <a:ext cx="5166360" cy="868680"/>
          </a:xfrm>
          <a:prstGeom prst="rect">
            <a:avLst/>
          </a:prstGeom>
          <a:solidFill>
            <a:srgbClr val="0D274B"/>
          </a:solidFill>
          <a:ln w="12700">
            <a:solidFill>
              <a:srgbClr val="48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626864"/>
            <a:ext cx="73152" cy="86868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736592"/>
            <a:ext cx="487375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Human-in-the-loop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29200"/>
            <a:ext cx="4873752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AF2FF"/>
                </a:solidFill>
                <a:latin typeface="Aptos"/>
              </a:rPr>
              <a:t>Manusia tetap reviewer. AI hanya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mempercepat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eksplorasi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, bukan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mengambil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keputusan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final.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8046720" cy="38404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93268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0">
                <a:solidFill>
                  <a:srgbClr val="9FB0C7"/>
                </a:solidFill>
                <a:latin typeface="Aptos"/>
              </a:rPr>
              <a:t>AI diposisikan sebagai co-pilot kerja: mempercepat eksplorasi, bukan menggantikan judgment manusia.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5074920" cy="914400"/>
          </a:xfrm>
          <a:prstGeom prst="rect">
            <a:avLst/>
          </a:prstGeom>
          <a:solidFill>
            <a:srgbClr val="0D274B"/>
          </a:solidFill>
          <a:ln w="12700">
            <a:solidFill>
              <a:srgbClr val="1B6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914400"/>
          </a:xfrm>
          <a:prstGeom prst="rect">
            <a:avLst/>
          </a:prstGeom>
          <a:solidFill>
            <a:srgbClr val="1B6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35607"/>
            <a:ext cx="47823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728216"/>
            <a:ext cx="4782312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 err="1">
                <a:solidFill>
                  <a:srgbClr val="EAF2FF"/>
                </a:solidFill>
                <a:latin typeface="Aptos"/>
              </a:rPr>
              <a:t>Mempercepat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pencarian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informasi,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pembelajaran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diskusi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, debugging, dan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penyelesaian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kendala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teknis.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074920" cy="914400"/>
          </a:xfrm>
          <a:prstGeom prst="rect">
            <a:avLst/>
          </a:prstGeom>
          <a:solidFill>
            <a:srgbClr val="0D274B"/>
          </a:solidFill>
          <a:ln w="12700">
            <a:solidFill>
              <a:srgbClr val="2B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914400"/>
          </a:xfrm>
          <a:prstGeom prst="rect">
            <a:avLst/>
          </a:prstGeom>
          <a:solidFill>
            <a:srgbClr val="2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435607"/>
            <a:ext cx="47823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Tool utama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1728216"/>
            <a:ext cx="4776217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 err="1">
                <a:solidFill>
                  <a:srgbClr val="EAF2FF"/>
                </a:solidFill>
                <a:latin typeface="Aptos"/>
              </a:rPr>
              <a:t>ChatGPT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dan Claude untuk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diskusi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umum; GitHub Copilot untuk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konteks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coding di Visual Studio.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560320"/>
            <a:ext cx="5074920" cy="914400"/>
          </a:xfrm>
          <a:prstGeom prst="rect">
            <a:avLst/>
          </a:prstGeom>
          <a:solidFill>
            <a:srgbClr val="0D274B"/>
          </a:solidFill>
          <a:ln w="12700">
            <a:solidFill>
              <a:srgbClr val="F3B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2560320"/>
            <a:ext cx="73152" cy="914400"/>
          </a:xfrm>
          <a:prstGeom prst="rect">
            <a:avLst/>
          </a:prstGeom>
          <a:solidFill>
            <a:srgbClr val="F3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2670048"/>
            <a:ext cx="47823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Kontrol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962656"/>
            <a:ext cx="4782312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AF2FF"/>
                </a:solidFill>
                <a:latin typeface="Aptos"/>
              </a:rPr>
              <a:t>Output AI selalu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diverifikasi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karena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AI dapat salah, bias, atau kurang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memahami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konteks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bisnis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5074920" cy="914400"/>
          </a:xfrm>
          <a:prstGeom prst="rect">
            <a:avLst/>
          </a:prstGeom>
          <a:solidFill>
            <a:srgbClr val="0D274B"/>
          </a:solidFill>
          <a:ln w="12700">
            <a:solidFill>
              <a:srgbClr val="48C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560320"/>
            <a:ext cx="73152" cy="914400"/>
          </a:xfrm>
          <a:prstGeom prst="rect">
            <a:avLst/>
          </a:prstGeom>
          <a:solidFill>
            <a:srgbClr val="48C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2670048"/>
            <a:ext cx="47823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Aptos"/>
              </a:rPr>
              <a:t>Dampak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962656"/>
            <a:ext cx="4782312" cy="3600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dirty="0">
                <a:solidFill>
                  <a:srgbClr val="EAF2FF"/>
                </a:solidFill>
                <a:latin typeface="Aptos"/>
              </a:rPr>
              <a:t>Waktu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eksplorasi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dan debugging menjadi lebih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terarah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, terutama pada codebase besar dan </a:t>
            </a:r>
            <a:r>
              <a:rPr sz="1050" b="0" dirty="0" err="1">
                <a:solidFill>
                  <a:srgbClr val="EAF2FF"/>
                </a:solidFill>
                <a:latin typeface="Aptos"/>
              </a:rPr>
              <a:t>topik</a:t>
            </a:r>
            <a:r>
              <a:rPr sz="1050" b="0" dirty="0">
                <a:solidFill>
                  <a:srgbClr val="EAF2FF"/>
                </a:solidFill>
                <a:latin typeface="Aptos"/>
              </a:rPr>
              <a:t> baru.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51960"/>
            <a:ext cx="10058400" cy="56015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ptos"/>
              </a:rPr>
              <a:t>AI bukan “mesin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jawaban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final”. AI adalah rekan berpikir yang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mempercepat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proses, sedangkan </a:t>
            </a:r>
            <a:r>
              <a:rPr sz="1700" b="1" dirty="0" err="1">
                <a:solidFill>
                  <a:srgbClr val="FFFFFF"/>
                </a:solidFill>
                <a:latin typeface="Aptos"/>
              </a:rPr>
              <a:t>keputusan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tetap berdasarkan validasi manusia.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3892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2BD3FF"/>
                </a:solidFill>
                <a:latin typeface="Aptos"/>
              </a:rPr>
              <a:t>Prinsip utama: lebih cepat, lebih terarah, tetapi tetap terkontrol.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FB0C7"/>
                </a:solidFill>
                <a:latin typeface="Aptos"/>
              </a:rPr>
              <a:t>Internal sharing • AI tools adoption •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1673</Words>
  <Application>Microsoft Office PowerPoint</Application>
  <PresentationFormat>Widescreen</PresentationFormat>
  <Paragraphs>192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michael martin</cp:lastModifiedBy>
  <cp:revision>2</cp:revision>
  <dcterms:created xsi:type="dcterms:W3CDTF">2013-01-27T09:14:16Z</dcterms:created>
  <dcterms:modified xsi:type="dcterms:W3CDTF">2026-06-01T15:09:28Z</dcterms:modified>
  <cp:category/>
</cp:coreProperties>
</file>