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26D6-739D-5332-D88F-6C37F83EF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14E70-619B-680A-FAA8-A339F0246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6A3FE-629D-7E2A-7E49-2217E28D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A6296-725B-743F-5B75-990DAEF85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1B14E-55F3-40A8-7424-CCA8A154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324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8A0D-007A-BF57-0E7E-30ABABE9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4EA3-C389-D988-CF33-442F7505B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49227-3A09-3856-58D9-8D531B65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B620A-F370-59AC-138A-524F6A2F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30E18-09F1-B14F-10D8-E57B472D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47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3ED6-2A21-A03D-B1AD-8957FC97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2E0C5-2659-2E28-B784-1DDD3E0E2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3F395-D174-1C9F-DEEB-7710B326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FF386-D15C-6DC7-610F-8AC68C01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7DB65-EE22-212E-C0D2-56F65D43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6794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5642-F0CB-5254-8831-9E0B3591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C5FD2-110C-36E8-CFB0-174052CF0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D216C-B3A7-DE87-D58A-A45105708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F32A5-4C64-11C8-8A98-01D34321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D5BA-32E0-6977-AA37-463B126E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732C-FE9C-4D70-54B5-434EC81A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138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2711-B0D3-9285-346C-6199C200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B7001-2C0A-4B32-8C33-46A0B525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C86BA-7173-1853-3E5C-6B2C320A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EE69C-D279-4E05-86FA-03D44C2A7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EC393-B46A-FE6B-78C0-B506DAF38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044EA-6519-9AE0-94AD-109EC5C1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4F11-5EFF-31D1-1639-6805BB28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CF6C86-45EE-F519-0791-DE574FA5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672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5D48-0E93-8BA4-71C2-BBC106DA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1BAB2-FE56-DB53-A405-D4BBF229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BFD5D-E1DD-530F-21D5-D19E852EB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328A0-4A0A-DFE3-C473-5204D823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041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BAAD4-1E89-4034-9143-DC495BDA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4DA82-A740-CD1D-E22C-8ECBC718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7624D-33F6-F405-A1D2-F600ECDA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122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5F58-F352-FE16-3119-9EC9DD76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A24A4-F3F5-95AD-8972-B84BC719B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74021-326F-090A-8CFF-660F94BEC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BF9E1-49C4-419E-BD47-E7679AC0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2B340-D5F8-D921-6E15-7C02A1F9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80070-5A39-FC31-4658-9A1EC166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20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B0ADA-E377-F968-8B74-4F037E06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BEF02-F719-92FD-0A2B-B414CA226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91B5A-2638-AE1B-15BF-629FB16D2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684E1-4244-6433-FAF5-F8F368DD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B089D-A45C-845E-3C21-189AA753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085E9-01EA-1CFD-C780-7CB58BC0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419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4475-827F-8FC0-4B0C-66A950B26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B9257-22D2-0428-E6FA-13B220CC8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70FBF-64CF-3529-2819-5BE7C275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A9EA-DD05-C4D7-C108-45F071E6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F76F4-CDF6-AB93-8EFF-F53450D3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858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064B2-E50F-5746-4C74-F66606A25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1A80B-2BEE-DFB1-3343-B86E252F6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0F446-9BC4-7746-EFCC-5BF01B0F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8843A-CDE7-A16A-BF6C-4DF81C98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7F35-4D87-3F3B-9A9E-E982EAD3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690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0643B-6E35-A5D1-3A09-7D038C6C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D46B6-684F-8752-84FE-FA94C6FBA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24835-F12E-C013-36BD-4427193FD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3E121-8C55-4F06-A667-1AC28D8FFA27}" type="datetimeFigureOut">
              <a:rPr lang="en-ID" smtClean="0"/>
              <a:t>26/05/2026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53352-DD3E-3813-75B9-B2CD6E31E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DA2B3-B3B8-1300-0CD7-5544DF21D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9E251-5590-4BC7-87EB-AFD30F7FB3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051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1E45D2D2-E425-F440-A82B-F0C7903CE4F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19958C3-4D3B-4EDA-BDF9-77DBAADCEFE9}"/>
              </a:ext>
            </a:extLst>
          </p:cNvPr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8990DE31-18D2-DC70-F404-41EF6E05BFB5}"/>
              </a:ext>
            </a:extLst>
          </p:cNvPr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DFD91E4-A088-15F7-C25F-5B6E09A1ACFF}"/>
              </a:ext>
            </a:extLst>
          </p:cNvPr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23F88A76-55A8-5A04-6020-07602D11AC01}"/>
              </a:ext>
            </a:extLst>
          </p:cNvPr>
          <p:cNvSpPr/>
          <p:nvPr/>
        </p:nvSpPr>
        <p:spPr>
          <a:xfrm>
            <a:off x="68580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Masalah utama bukan hanya “membuat approval”, tetapi bagaimana membuat proses approval yang bisa dipantau, diubah, dan dilanjutkan tanpa membuat aplikasi utama makin rumit.</a:t>
            </a:r>
            <a:endParaRPr lang="en-US" sz="17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CEB7BB80-7918-BA02-AAB5-5B3903A45AF0}"/>
              </a:ext>
            </a:extLst>
          </p:cNvPr>
          <p:cNvSpPr/>
          <p:nvPr/>
        </p:nvSpPr>
        <p:spPr>
          <a:xfrm>
            <a:off x="685800" y="2148840"/>
            <a:ext cx="3429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5BF79261-19E2-1C3A-79FA-69FCDF5FAB2D}"/>
              </a:ext>
            </a:extLst>
          </p:cNvPr>
          <p:cNvSpPr/>
          <p:nvPr/>
        </p:nvSpPr>
        <p:spPr>
          <a:xfrm>
            <a:off x="685800" y="2148840"/>
            <a:ext cx="73152" cy="2331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E70F3BE-C433-3D83-AC92-35F6C9CDE0F1}"/>
              </a:ext>
            </a:extLst>
          </p:cNvPr>
          <p:cNvSpPr/>
          <p:nvPr/>
        </p:nvSpPr>
        <p:spPr>
          <a:xfrm>
            <a:off x="886968" y="2304288"/>
            <a:ext cx="31089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Kondisi sekarang</a:t>
            </a:r>
            <a:endParaRPr lang="en-US" sz="16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DBE0ED6-00F6-5E6E-67CF-E649490403B5}"/>
              </a:ext>
            </a:extLst>
          </p:cNvPr>
          <p:cNvSpPr/>
          <p:nvPr/>
        </p:nvSpPr>
        <p:spPr>
          <a:xfrm>
            <a:off x="886968" y="2697480"/>
            <a:ext cx="308152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Logic approval masih dekat dengan kode aplikasi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Perubahan flow berarti ubah kode + retest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Sulit tracing jika proses berhenti di tengah</a:t>
            </a:r>
            <a:endParaRPr lang="en-US" sz="127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9128F938-2F92-2B47-D4D7-5D3575C6FEB5}"/>
              </a:ext>
            </a:extLst>
          </p:cNvPr>
          <p:cNvSpPr/>
          <p:nvPr/>
        </p:nvSpPr>
        <p:spPr>
          <a:xfrm>
            <a:off x="4434840" y="2148840"/>
            <a:ext cx="34290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198A652F-63F9-72C9-3F4D-B1CE7D42ACA7}"/>
              </a:ext>
            </a:extLst>
          </p:cNvPr>
          <p:cNvSpPr/>
          <p:nvPr/>
        </p:nvSpPr>
        <p:spPr>
          <a:xfrm>
            <a:off x="4434840" y="2148840"/>
            <a:ext cx="73152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FBF7D995-609A-2D71-DCBE-A0107D66F176}"/>
              </a:ext>
            </a:extLst>
          </p:cNvPr>
          <p:cNvSpPr/>
          <p:nvPr/>
        </p:nvSpPr>
        <p:spPr>
          <a:xfrm>
            <a:off x="4636008" y="2304288"/>
            <a:ext cx="31089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Solusi yang diuji</a:t>
            </a:r>
            <a:endParaRPr lang="en-US" sz="16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0064B53-0919-B5D9-8090-251C708B738A}"/>
              </a:ext>
            </a:extLst>
          </p:cNvPr>
          <p:cNvSpPr/>
          <p:nvPr/>
        </p:nvSpPr>
        <p:spPr>
          <a:xfrm>
            <a:off x="4636008" y="2697480"/>
            <a:ext cx="308152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Elsa sebagai workflow engine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Workflow visual + JSON/C#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Support wait/resume untuk proses long-running</a:t>
            </a:r>
            <a:endParaRPr lang="en-US" sz="127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5597E553-DFF5-19E3-1737-9219A42D7F51}"/>
              </a:ext>
            </a:extLst>
          </p:cNvPr>
          <p:cNvSpPr/>
          <p:nvPr/>
        </p:nvSpPr>
        <p:spPr>
          <a:xfrm>
            <a:off x="8183880" y="2148840"/>
            <a:ext cx="3291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9B043B37-B964-BE42-CDE0-D1BEAD50938B}"/>
              </a:ext>
            </a:extLst>
          </p:cNvPr>
          <p:cNvSpPr/>
          <p:nvPr/>
        </p:nvSpPr>
        <p:spPr>
          <a:xfrm>
            <a:off x="8183880" y="2148840"/>
            <a:ext cx="73152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1324CE67-BC5A-88E4-FFDD-A4CAF14CB6EC}"/>
              </a:ext>
            </a:extLst>
          </p:cNvPr>
          <p:cNvSpPr/>
          <p:nvPr/>
        </p:nvSpPr>
        <p:spPr>
          <a:xfrm>
            <a:off x="8385048" y="2304288"/>
            <a:ext cx="2971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Nilai untuk tim</a:t>
            </a:r>
            <a:endParaRPr lang="en-US" sz="16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713A8BD-84D3-D821-E7A1-DD85E05186C3}"/>
              </a:ext>
            </a:extLst>
          </p:cNvPr>
          <p:cNvSpPr/>
          <p:nvPr/>
        </p:nvSpPr>
        <p:spPr>
          <a:xfrm>
            <a:off x="8385048" y="2697480"/>
            <a:ext cx="2944368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Flow lebih mudah dibaca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Developer fokus ke integration point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• Ketua tim lebih mudah review risiko &amp; progress</a:t>
            </a:r>
            <a:endParaRPr lang="en-US" sz="127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D6779EC1-261C-DDA0-133B-DE58807FAB22}"/>
              </a:ext>
            </a:extLst>
          </p:cNvPr>
          <p:cNvSpPr/>
          <p:nvPr/>
        </p:nvSpPr>
        <p:spPr>
          <a:xfrm>
            <a:off x="777240" y="5230368"/>
            <a:ext cx="10607040" cy="502920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Rekomendasi: lanjutkan sebagai controlled pilot untuk approval document processing, bukan langsung mengganti seluruh logic proses.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99035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4">
            <a:extLst>
              <a:ext uri="{FF2B5EF4-FFF2-40B4-BE49-F238E27FC236}">
                <a16:creationId xmlns:a16="http://schemas.microsoft.com/office/drawing/2014/main" id="{A45B7328-4D1B-3318-810C-7FDA8376BD82}"/>
              </a:ext>
            </a:extLst>
          </p:cNvPr>
          <p:cNvSpPr/>
          <p:nvPr/>
        </p:nvSpPr>
        <p:spPr>
          <a:xfrm>
            <a:off x="777240" y="416052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A25844F6-8322-4DB4-C7D4-2F66C3BFB547}"/>
              </a:ext>
            </a:extLst>
          </p:cNvPr>
          <p:cNvSpPr/>
          <p:nvPr/>
        </p:nvSpPr>
        <p:spPr>
          <a:xfrm>
            <a:off x="777240" y="41605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5A1C5615-7D7A-5E00-0949-EB28EA2CD8CF}"/>
              </a:ext>
            </a:extLst>
          </p:cNvPr>
          <p:cNvSpPr/>
          <p:nvPr/>
        </p:nvSpPr>
        <p:spPr>
          <a:xfrm>
            <a:off x="978408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Boundary yang disarankan</a:t>
            </a:r>
            <a:endParaRPr lang="en-US" sz="1600" dirty="0"/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CAE18356-CB77-56D7-FDD5-5D6F036AC1E2}"/>
              </a:ext>
            </a:extLst>
          </p:cNvPr>
          <p:cNvSpPr/>
          <p:nvPr/>
        </p:nvSpPr>
        <p:spPr>
          <a:xfrm>
            <a:off x="978408" y="4709160"/>
            <a:ext cx="29900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Elsa mengatur flow dan state; aplikasi tetap memegang validasi, authorization, dan transaksi bisnis.</a:t>
            </a:r>
            <a:endParaRPr lang="en-US" sz="1270" dirty="0"/>
          </a:p>
        </p:txBody>
      </p:sp>
      <p:sp>
        <p:nvSpPr>
          <p:cNvPr id="8" name="Shape 28">
            <a:extLst>
              <a:ext uri="{FF2B5EF4-FFF2-40B4-BE49-F238E27FC236}">
                <a16:creationId xmlns:a16="http://schemas.microsoft.com/office/drawing/2014/main" id="{ECC301E6-B6D4-5C4D-828E-A6BFAC237E43}"/>
              </a:ext>
            </a:extLst>
          </p:cNvPr>
          <p:cNvSpPr/>
          <p:nvPr/>
        </p:nvSpPr>
        <p:spPr>
          <a:xfrm>
            <a:off x="4434840" y="416052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9" name="Shape 29">
            <a:extLst>
              <a:ext uri="{FF2B5EF4-FFF2-40B4-BE49-F238E27FC236}">
                <a16:creationId xmlns:a16="http://schemas.microsoft.com/office/drawing/2014/main" id="{6E18BB27-DF65-97F6-A973-5EB11ED49AFC}"/>
              </a:ext>
            </a:extLst>
          </p:cNvPr>
          <p:cNvSpPr/>
          <p:nvPr/>
        </p:nvSpPr>
        <p:spPr>
          <a:xfrm>
            <a:off x="4434840" y="416052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1575B509-DF3E-AE61-9DAE-C12730515F9B}"/>
              </a:ext>
            </a:extLst>
          </p:cNvPr>
          <p:cNvSpPr/>
          <p:nvPr/>
        </p:nvSpPr>
        <p:spPr>
          <a:xfrm>
            <a:off x="4636008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penting</a:t>
            </a:r>
            <a:endParaRPr lang="en-US" sz="1600" dirty="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A1228737-70EE-88C3-FD80-DF070ACA6E1A}"/>
              </a:ext>
            </a:extLst>
          </p:cNvPr>
          <p:cNvSpPr/>
          <p:nvPr/>
        </p:nvSpPr>
        <p:spPr>
          <a:xfrm>
            <a:off x="4636008" y="4709160"/>
            <a:ext cx="29900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Gunakan correlation/reference ID agar satu workflow instance bisa dihubungkan ke satu transaksi bisnis.</a:t>
            </a:r>
            <a:endParaRPr lang="en-US" sz="1270" dirty="0"/>
          </a:p>
        </p:txBody>
      </p:sp>
      <p:sp>
        <p:nvSpPr>
          <p:cNvPr id="12" name="Shape 32">
            <a:extLst>
              <a:ext uri="{FF2B5EF4-FFF2-40B4-BE49-F238E27FC236}">
                <a16:creationId xmlns:a16="http://schemas.microsoft.com/office/drawing/2014/main" id="{609765F1-8B27-DCCB-2271-1567E76FBD5A}"/>
              </a:ext>
            </a:extLst>
          </p:cNvPr>
          <p:cNvSpPr/>
          <p:nvPr/>
        </p:nvSpPr>
        <p:spPr>
          <a:xfrm>
            <a:off x="8092440" y="416052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3" name="Shape 33">
            <a:extLst>
              <a:ext uri="{FF2B5EF4-FFF2-40B4-BE49-F238E27FC236}">
                <a16:creationId xmlns:a16="http://schemas.microsoft.com/office/drawing/2014/main" id="{29969873-7A23-9274-D47D-97B94373B602}"/>
              </a:ext>
            </a:extLst>
          </p:cNvPr>
          <p:cNvSpPr/>
          <p:nvPr/>
        </p:nvSpPr>
        <p:spPr>
          <a:xfrm>
            <a:off x="8092440" y="416052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34">
            <a:extLst>
              <a:ext uri="{FF2B5EF4-FFF2-40B4-BE49-F238E27FC236}">
                <a16:creationId xmlns:a16="http://schemas.microsoft.com/office/drawing/2014/main" id="{4272956C-EF4D-EC96-6268-C864759D5155}"/>
              </a:ext>
            </a:extLst>
          </p:cNvPr>
          <p:cNvSpPr/>
          <p:nvPr/>
        </p:nvSpPr>
        <p:spPr>
          <a:xfrm>
            <a:off x="8293608" y="4315968"/>
            <a:ext cx="2834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Kontrol teknis</a:t>
            </a:r>
            <a:endParaRPr lang="en-US" sz="1600" dirty="0"/>
          </a:p>
        </p:txBody>
      </p:sp>
      <p:sp>
        <p:nvSpPr>
          <p:cNvPr id="15" name="Text 35">
            <a:extLst>
              <a:ext uri="{FF2B5EF4-FFF2-40B4-BE49-F238E27FC236}">
                <a16:creationId xmlns:a16="http://schemas.microsoft.com/office/drawing/2014/main" id="{E61A809E-F88D-8C9A-07AE-7C1DB101CF03}"/>
              </a:ext>
            </a:extLst>
          </p:cNvPr>
          <p:cNvSpPr/>
          <p:nvPr/>
        </p:nvSpPr>
        <p:spPr>
          <a:xfrm>
            <a:off x="8293608" y="4709160"/>
            <a:ext cx="280720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Endpoint resume wajib diamankan; jangan biarkan approval endpoint publik tanpa token/validasi.</a:t>
            </a:r>
            <a:endParaRPr lang="en-US" sz="127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D9EEA453-F5BF-9B58-1972-43E8B7D1086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B59D884-1BF7-DBDD-AB58-5C57C6B0ED15}"/>
              </a:ext>
            </a:extLst>
          </p:cNvPr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CA3E2BE9-FD7A-5F0A-31E4-A36DADD871AE}"/>
              </a:ext>
            </a:extLst>
          </p:cNvPr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Proposed Architecture: Posisi Elsa di Aplikasi</a:t>
            </a:r>
            <a:endParaRPr lang="en-US" sz="28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E87F4F8B-2748-6AEF-218B-7B8267C85649}"/>
              </a:ext>
            </a:extLst>
          </p:cNvPr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EB6FEDA5-554D-FA1B-6835-A6B2CC26D6DC}"/>
              </a:ext>
            </a:extLst>
          </p:cNvPr>
          <p:cNvSpPr/>
          <p:nvPr/>
        </p:nvSpPr>
        <p:spPr>
          <a:xfrm>
            <a:off x="685800" y="1170432"/>
            <a:ext cx="10698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Target arsitektur: aplikasi utama tetap menjadi pemilik data dan validasi, Elsa mengatur urutan proses, status, dan kapan proses dilanjutkan.</a:t>
            </a:r>
            <a:endParaRPr lang="en-US" sz="155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A23340DF-2538-D244-D0B6-B3A9AB3B4F74}"/>
              </a:ext>
            </a:extLst>
          </p:cNvPr>
          <p:cNvSpPr/>
          <p:nvPr/>
        </p:nvSpPr>
        <p:spPr>
          <a:xfrm>
            <a:off x="54864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6F4F331-BBB8-25F4-2413-C16773CCA855}"/>
              </a:ext>
            </a:extLst>
          </p:cNvPr>
          <p:cNvSpPr/>
          <p:nvPr/>
        </p:nvSpPr>
        <p:spPr>
          <a:xfrm>
            <a:off x="68580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Client / User</a:t>
            </a:r>
            <a:endParaRPr lang="en-US" sz="135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B50061-3235-3A01-0D46-E3F2A9A76F82}"/>
              </a:ext>
            </a:extLst>
          </p:cNvPr>
          <p:cNvSpPr/>
          <p:nvPr/>
        </p:nvSpPr>
        <p:spPr>
          <a:xfrm>
            <a:off x="71323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Submit request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Approve / Reject</a:t>
            </a:r>
            <a:endParaRPr lang="en-US" sz="107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C07BE2BE-BF77-344E-0B8A-CD29983876C4}"/>
              </a:ext>
            </a:extLst>
          </p:cNvPr>
          <p:cNvSpPr/>
          <p:nvPr/>
        </p:nvSpPr>
        <p:spPr>
          <a:xfrm>
            <a:off x="248716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9952B346-DC8C-99D5-C636-2508AC3ADE54}"/>
              </a:ext>
            </a:extLst>
          </p:cNvPr>
          <p:cNvSpPr/>
          <p:nvPr/>
        </p:nvSpPr>
        <p:spPr>
          <a:xfrm>
            <a:off x="288036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9391B29-9BF7-B21A-73B6-798AAE957B56}"/>
              </a:ext>
            </a:extLst>
          </p:cNvPr>
          <p:cNvSpPr/>
          <p:nvPr/>
        </p:nvSpPr>
        <p:spPr>
          <a:xfrm>
            <a:off x="301752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ASP.NET Core App</a:t>
            </a:r>
            <a:endParaRPr lang="en-US" sz="135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22D5F87-68A9-E07C-139A-CA518F3FC9F4}"/>
              </a:ext>
            </a:extLst>
          </p:cNvPr>
          <p:cNvSpPr/>
          <p:nvPr/>
        </p:nvSpPr>
        <p:spPr>
          <a:xfrm>
            <a:off x="304495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Validation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Business API</a:t>
            </a:r>
            <a:endParaRPr lang="en-US" sz="107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F6F85517-3D95-D466-3A43-BA815D6CE843}"/>
              </a:ext>
            </a:extLst>
          </p:cNvPr>
          <p:cNvSpPr/>
          <p:nvPr/>
        </p:nvSpPr>
        <p:spPr>
          <a:xfrm>
            <a:off x="481888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60925606-5DD6-96FE-5C30-8B937B61608A}"/>
              </a:ext>
            </a:extLst>
          </p:cNvPr>
          <p:cNvSpPr/>
          <p:nvPr/>
        </p:nvSpPr>
        <p:spPr>
          <a:xfrm>
            <a:off x="5212080" y="1965960"/>
            <a:ext cx="1920240" cy="14173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B5921EE-B35A-22E1-F897-F7C5F20D2EA0}"/>
              </a:ext>
            </a:extLst>
          </p:cNvPr>
          <p:cNvSpPr/>
          <p:nvPr/>
        </p:nvSpPr>
        <p:spPr>
          <a:xfrm>
            <a:off x="534924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Elsa Workflow</a:t>
            </a:r>
            <a:endParaRPr lang="en-US" sz="135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1627FF02-E02F-46C1-2A27-8654CAD172E7}"/>
              </a:ext>
            </a:extLst>
          </p:cNvPr>
          <p:cNvSpPr/>
          <p:nvPr/>
        </p:nvSpPr>
        <p:spPr>
          <a:xfrm>
            <a:off x="537667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Trigger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Decision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Wait/Resume</a:t>
            </a:r>
            <a:endParaRPr lang="en-US" sz="107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3CE6184-35F8-BD64-43F8-ADE5F7712DB3}"/>
              </a:ext>
            </a:extLst>
          </p:cNvPr>
          <p:cNvSpPr/>
          <p:nvPr/>
        </p:nvSpPr>
        <p:spPr>
          <a:xfrm>
            <a:off x="715060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41C8361C-4849-445F-E606-CACA8F5A00C9}"/>
              </a:ext>
            </a:extLst>
          </p:cNvPr>
          <p:cNvSpPr/>
          <p:nvPr/>
        </p:nvSpPr>
        <p:spPr>
          <a:xfrm>
            <a:off x="754380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98817076-A2CA-DF3A-CAD3-4F01337FB70A}"/>
              </a:ext>
            </a:extLst>
          </p:cNvPr>
          <p:cNvSpPr/>
          <p:nvPr/>
        </p:nvSpPr>
        <p:spPr>
          <a:xfrm>
            <a:off x="768096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Integration</a:t>
            </a:r>
            <a:endParaRPr lang="en-US" sz="135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694B9C9-5D87-A10E-3CB1-E606D3CEAF4C}"/>
              </a:ext>
            </a:extLst>
          </p:cNvPr>
          <p:cNvSpPr/>
          <p:nvPr/>
        </p:nvSpPr>
        <p:spPr>
          <a:xfrm>
            <a:off x="770839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Email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Document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External API</a:t>
            </a:r>
            <a:endParaRPr lang="en-US" sz="107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BA434842-0633-7026-A381-815EBE822213}"/>
              </a:ext>
            </a:extLst>
          </p:cNvPr>
          <p:cNvSpPr/>
          <p:nvPr/>
        </p:nvSpPr>
        <p:spPr>
          <a:xfrm>
            <a:off x="9482328" y="2679192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D83C123D-0556-C4B9-4659-62EBF8A64607}"/>
              </a:ext>
            </a:extLst>
          </p:cNvPr>
          <p:cNvSpPr/>
          <p:nvPr/>
        </p:nvSpPr>
        <p:spPr>
          <a:xfrm>
            <a:off x="9875520" y="19659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DC9996F1-6314-E66F-5719-B899AC89D59A}"/>
              </a:ext>
            </a:extLst>
          </p:cNvPr>
          <p:cNvSpPr/>
          <p:nvPr/>
        </p:nvSpPr>
        <p:spPr>
          <a:xfrm>
            <a:off x="1001268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</a:rPr>
              <a:t>Database</a:t>
            </a:r>
            <a:endParaRPr lang="en-US" sz="135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36F90361-73F9-59A3-010E-C2E200DD412C}"/>
              </a:ext>
            </a:extLst>
          </p:cNvPr>
          <p:cNvSpPr/>
          <p:nvPr/>
        </p:nvSpPr>
        <p:spPr>
          <a:xfrm>
            <a:off x="10040112" y="2587752"/>
            <a:ext cx="1600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Business data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64748B"/>
                </a:solidFill>
              </a:rPr>
              <a:t>Workflow state</a:t>
            </a:r>
            <a:endParaRPr lang="en-US" sz="1070" dirty="0"/>
          </a:p>
        </p:txBody>
      </p:sp>
    </p:spTree>
    <p:extLst>
      <p:ext uri="{BB962C8B-B14F-4D97-AF65-F5344CB8AC3E}">
        <p14:creationId xmlns:p14="http://schemas.microsoft.com/office/powerpoint/2010/main" val="79601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F4350899-9684-D225-9D6E-9E52EED893E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77EB1D2-2F53-F34C-EE59-A0DED00A2D83}"/>
              </a:ext>
            </a:extLst>
          </p:cNvPr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4E1B70B-106F-D34A-3495-4BCD96F21ACC}"/>
              </a:ext>
            </a:extLst>
          </p:cNvPr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Step Implementasi yang Diusulkan</a:t>
            </a:r>
            <a:endParaRPr lang="en-US" sz="2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4CEF333-F78A-A8E6-AAE0-D340E0E30C28}"/>
              </a:ext>
            </a:extLst>
          </p:cNvPr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15B5999-9792-45F4-DA3B-C5AACEBE9F26}"/>
              </a:ext>
            </a:extLst>
          </p:cNvPr>
          <p:cNvSpPr/>
          <p:nvPr/>
        </p:nvSpPr>
        <p:spPr>
          <a:xfrm>
            <a:off x="685800" y="132588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16200000" algn="bl" rotWithShape="0">
              <a:srgbClr val="CBD5E1">
                <a:alpha val="20000"/>
              </a:srgbClr>
            </a:outerShdw>
          </a:effectLst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47C1A0C-9C60-4C78-524C-A285811A401B}"/>
              </a:ext>
            </a:extLst>
          </p:cNvPr>
          <p:cNvSpPr/>
          <p:nvPr/>
        </p:nvSpPr>
        <p:spPr>
          <a:xfrm>
            <a:off x="850392" y="150876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3E34FE1-DD69-3D27-9C5A-F73F3E80A2E3}"/>
              </a:ext>
            </a:extLst>
          </p:cNvPr>
          <p:cNvSpPr/>
          <p:nvPr/>
        </p:nvSpPr>
        <p:spPr>
          <a:xfrm>
            <a:off x="960120" y="1609344"/>
            <a:ext cx="21031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DC529F6-2E66-E7EC-19D0-B4F5A9241157}"/>
              </a:ext>
            </a:extLst>
          </p:cNvPr>
          <p:cNvSpPr/>
          <p:nvPr/>
        </p:nvSpPr>
        <p:spPr>
          <a:xfrm>
            <a:off x="1435608" y="1499616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Define scope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E5809D0-519D-FD6E-C6AD-0275356252D3}"/>
              </a:ext>
            </a:extLst>
          </p:cNvPr>
          <p:cNvSpPr/>
          <p:nvPr/>
        </p:nvSpPr>
        <p:spPr>
          <a:xfrm>
            <a:off x="914400" y="2039112"/>
            <a:ext cx="27889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4748B"/>
                </a:solidFill>
              </a:rPr>
              <a:t>Mulai dari satu approval document processing yang jelas input/output-nya.</a:t>
            </a:r>
            <a:endParaRPr lang="en-US" sz="114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373B7A3-31A7-58B4-A749-C3CDD5FB5DC7}"/>
              </a:ext>
            </a:extLst>
          </p:cNvPr>
          <p:cNvSpPr/>
          <p:nvPr/>
        </p:nvSpPr>
        <p:spPr>
          <a:xfrm>
            <a:off x="4480560" y="132588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16200000" algn="bl" rotWithShape="0">
              <a:srgbClr val="CBD5E1">
                <a:alpha val="20000"/>
              </a:srgbClr>
            </a:outerShdw>
          </a:effectLst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A47EA90-3541-A85B-FF3F-20E23E9C0912}"/>
              </a:ext>
            </a:extLst>
          </p:cNvPr>
          <p:cNvSpPr/>
          <p:nvPr/>
        </p:nvSpPr>
        <p:spPr>
          <a:xfrm>
            <a:off x="4645152" y="150876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EEBECAA-3AD1-6DBF-F326-577FD21CB505}"/>
              </a:ext>
            </a:extLst>
          </p:cNvPr>
          <p:cNvSpPr/>
          <p:nvPr/>
        </p:nvSpPr>
        <p:spPr>
          <a:xfrm>
            <a:off x="4754880" y="1609344"/>
            <a:ext cx="21031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DA5958B-1DF0-9354-B05E-5A4B1A0F73E9}"/>
              </a:ext>
            </a:extLst>
          </p:cNvPr>
          <p:cNvSpPr/>
          <p:nvPr/>
        </p:nvSpPr>
        <p:spPr>
          <a:xfrm>
            <a:off x="5230368" y="1499616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Model workflow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A43BF90-84BB-AB33-640D-B6DBFB8CF536}"/>
              </a:ext>
            </a:extLst>
          </p:cNvPr>
          <p:cNvSpPr/>
          <p:nvPr/>
        </p:nvSpPr>
        <p:spPr>
          <a:xfrm>
            <a:off x="4709160" y="2039112"/>
            <a:ext cx="27889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4748B"/>
                </a:solidFill>
              </a:rPr>
              <a:t>Buat definition: trigger → create data → send email → wait approval → branch result.</a:t>
            </a:r>
            <a:endParaRPr lang="en-US" sz="114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B025D90-CF2D-3EDD-D51D-4F516E7471C3}"/>
              </a:ext>
            </a:extLst>
          </p:cNvPr>
          <p:cNvSpPr/>
          <p:nvPr/>
        </p:nvSpPr>
        <p:spPr>
          <a:xfrm>
            <a:off x="8275320" y="132588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16200000" algn="bl" rotWithShape="0">
              <a:srgbClr val="CBD5E1">
                <a:alpha val="20000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399C0268-2EEB-591D-322D-0C0C8E12A2A4}"/>
              </a:ext>
            </a:extLst>
          </p:cNvPr>
          <p:cNvSpPr/>
          <p:nvPr/>
        </p:nvSpPr>
        <p:spPr>
          <a:xfrm>
            <a:off x="8439912" y="150876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1AC238D-9060-053D-83CA-DEC641633EE1}"/>
              </a:ext>
            </a:extLst>
          </p:cNvPr>
          <p:cNvSpPr/>
          <p:nvPr/>
        </p:nvSpPr>
        <p:spPr>
          <a:xfrm>
            <a:off x="8549640" y="1609344"/>
            <a:ext cx="21031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A2A2191-6FFF-4905-D01F-9E4425D3C72A}"/>
              </a:ext>
            </a:extLst>
          </p:cNvPr>
          <p:cNvSpPr/>
          <p:nvPr/>
        </p:nvSpPr>
        <p:spPr>
          <a:xfrm>
            <a:off x="9025128" y="1499616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Add correlation ID</a:t>
            </a:r>
            <a:endParaRPr lang="en-US" sz="14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CFAA049-33C2-2365-DAF2-6CDCEA28B52B}"/>
              </a:ext>
            </a:extLst>
          </p:cNvPr>
          <p:cNvSpPr/>
          <p:nvPr/>
        </p:nvSpPr>
        <p:spPr>
          <a:xfrm>
            <a:off x="8503920" y="2039112"/>
            <a:ext cx="27889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4748B"/>
                </a:solidFill>
              </a:rPr>
              <a:t>Simpan business request ID / workflow instance ID untuk tracking dan resume.</a:t>
            </a:r>
            <a:endParaRPr lang="en-US" sz="114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D7CAD955-255F-4C21-E26A-67A3F406F0EC}"/>
              </a:ext>
            </a:extLst>
          </p:cNvPr>
          <p:cNvSpPr/>
          <p:nvPr/>
        </p:nvSpPr>
        <p:spPr>
          <a:xfrm>
            <a:off x="685800" y="33375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16200000" algn="bl" rotWithShape="0">
              <a:srgbClr val="CBD5E1">
                <a:alpha val="20000"/>
              </a:srgbClr>
            </a:outerShdw>
          </a:effectLst>
        </p:spPr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B3C5176B-5A45-A6E4-6B15-47693548E5B7}"/>
              </a:ext>
            </a:extLst>
          </p:cNvPr>
          <p:cNvSpPr/>
          <p:nvPr/>
        </p:nvSpPr>
        <p:spPr>
          <a:xfrm>
            <a:off x="850392" y="352044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028186C-ADCA-B081-39E3-08B6AAC05505}"/>
              </a:ext>
            </a:extLst>
          </p:cNvPr>
          <p:cNvSpPr/>
          <p:nvPr/>
        </p:nvSpPr>
        <p:spPr>
          <a:xfrm>
            <a:off x="960120" y="3621024"/>
            <a:ext cx="21031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C2046D5-2D02-A01C-DF75-977388FA83A1}"/>
              </a:ext>
            </a:extLst>
          </p:cNvPr>
          <p:cNvSpPr/>
          <p:nvPr/>
        </p:nvSpPr>
        <p:spPr>
          <a:xfrm>
            <a:off x="1435608" y="3511296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Build integration</a:t>
            </a:r>
            <a:endParaRPr lang="en-US" sz="14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987E4000-0DFD-3265-FE6D-B1605D3312CF}"/>
              </a:ext>
            </a:extLst>
          </p:cNvPr>
          <p:cNvSpPr/>
          <p:nvPr/>
        </p:nvSpPr>
        <p:spPr>
          <a:xfrm>
            <a:off x="914400" y="4050792"/>
            <a:ext cx="27889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4748B"/>
                </a:solidFill>
              </a:rPr>
              <a:t>Implement custom activity atau service untuk email, dokumen, dan update status.</a:t>
            </a:r>
            <a:endParaRPr lang="en-US" sz="114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CBE8F19-8865-A158-5683-AAE3C0E33E8D}"/>
              </a:ext>
            </a:extLst>
          </p:cNvPr>
          <p:cNvSpPr/>
          <p:nvPr/>
        </p:nvSpPr>
        <p:spPr>
          <a:xfrm>
            <a:off x="4480560" y="33375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16200000" algn="bl" rotWithShape="0">
              <a:srgbClr val="CBD5E1">
                <a:alpha val="20000"/>
              </a:srgbClr>
            </a:outerShdw>
          </a:effectLst>
        </p:spPr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94466490-FCC1-0CD4-AD49-C475E7F65B79}"/>
              </a:ext>
            </a:extLst>
          </p:cNvPr>
          <p:cNvSpPr/>
          <p:nvPr/>
        </p:nvSpPr>
        <p:spPr>
          <a:xfrm>
            <a:off x="4645152" y="352044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7BAC1809-5411-E149-6521-A47C3C506DF8}"/>
              </a:ext>
            </a:extLst>
          </p:cNvPr>
          <p:cNvSpPr/>
          <p:nvPr/>
        </p:nvSpPr>
        <p:spPr>
          <a:xfrm>
            <a:off x="4754880" y="3621024"/>
            <a:ext cx="21031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6E85137-6729-4729-A134-277AE795E7A9}"/>
              </a:ext>
            </a:extLst>
          </p:cNvPr>
          <p:cNvSpPr/>
          <p:nvPr/>
        </p:nvSpPr>
        <p:spPr>
          <a:xfrm>
            <a:off x="5230368" y="3511296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Secure endpoints</a:t>
            </a:r>
            <a:endParaRPr lang="en-US" sz="14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103D06B-40EF-C6D6-47CA-7EE4696732F5}"/>
              </a:ext>
            </a:extLst>
          </p:cNvPr>
          <p:cNvSpPr/>
          <p:nvPr/>
        </p:nvSpPr>
        <p:spPr>
          <a:xfrm>
            <a:off x="4709160" y="4050792"/>
            <a:ext cx="27889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4748B"/>
                </a:solidFill>
              </a:rPr>
              <a:t>Tambahkan auth, token, expiry, dan validasi actor untuk approve/reject.</a:t>
            </a:r>
            <a:endParaRPr lang="en-US" sz="114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3096DAB4-EC73-03C1-4628-BDD67B15C644}"/>
              </a:ext>
            </a:extLst>
          </p:cNvPr>
          <p:cNvSpPr/>
          <p:nvPr/>
        </p:nvSpPr>
        <p:spPr>
          <a:xfrm>
            <a:off x="8275320" y="3337560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16200000" algn="bl" rotWithShape="0">
              <a:srgbClr val="CBD5E1">
                <a:alpha val="20000"/>
              </a:srgbClr>
            </a:outerShdw>
          </a:effectLst>
        </p:spPr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76774D68-1A35-1CAF-6E29-0F3937B30929}"/>
              </a:ext>
            </a:extLst>
          </p:cNvPr>
          <p:cNvSpPr/>
          <p:nvPr/>
        </p:nvSpPr>
        <p:spPr>
          <a:xfrm>
            <a:off x="8439912" y="3520440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F7536B2C-B595-0748-8E1A-B1509A1A64C4}"/>
              </a:ext>
            </a:extLst>
          </p:cNvPr>
          <p:cNvSpPr/>
          <p:nvPr/>
        </p:nvSpPr>
        <p:spPr>
          <a:xfrm>
            <a:off x="8549640" y="3621024"/>
            <a:ext cx="21031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67C0E0AB-284E-37F3-1B77-231368B8938A}"/>
              </a:ext>
            </a:extLst>
          </p:cNvPr>
          <p:cNvSpPr/>
          <p:nvPr/>
        </p:nvSpPr>
        <p:spPr>
          <a:xfrm>
            <a:off x="9025128" y="3511296"/>
            <a:ext cx="2240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Pilot &amp; monitor</a:t>
            </a:r>
            <a:endParaRPr lang="en-US" sz="14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4A121DCD-603B-4E2D-9DAA-6EDAB5FA44B6}"/>
              </a:ext>
            </a:extLst>
          </p:cNvPr>
          <p:cNvSpPr/>
          <p:nvPr/>
        </p:nvSpPr>
        <p:spPr>
          <a:xfrm>
            <a:off x="8503920" y="4050792"/>
            <a:ext cx="27889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4748B"/>
                </a:solidFill>
              </a:rPr>
              <a:t>Uji happy path, reject path, timeout, retry, dan audit log sebelum rollout.</a:t>
            </a:r>
            <a:endParaRPr lang="en-US" sz="114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7C49FC34-D8CC-6C7D-AC89-E443837174AC}"/>
              </a:ext>
            </a:extLst>
          </p:cNvPr>
          <p:cNvSpPr/>
          <p:nvPr/>
        </p:nvSpPr>
        <p:spPr>
          <a:xfrm>
            <a:off x="822960" y="5779008"/>
            <a:ext cx="106070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563EB"/>
                </a:solidFill>
              </a:rPr>
              <a:t>Output pilot yang diharapkan: flow berjalan end-to-end, status bisa dilacak, dan perubahan flow tidak lagi tersebar di banyak fungsi.</a:t>
            </a:r>
            <a:endParaRPr lang="en-US" sz="1420" dirty="0"/>
          </a:p>
        </p:txBody>
      </p:sp>
    </p:spTree>
    <p:extLst>
      <p:ext uri="{BB962C8B-B14F-4D97-AF65-F5344CB8AC3E}">
        <p14:creationId xmlns:p14="http://schemas.microsoft.com/office/powerpoint/2010/main" val="297866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5CD7155-02A4-5480-8BC1-F9C4DCB89EB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61DAAB0-885F-D531-11B9-6F80DE99DE75}"/>
              </a:ext>
            </a:extLst>
          </p:cNvPr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0F3F92C-9A2A-96BC-61D6-2C6BBE929DEC}"/>
              </a:ext>
            </a:extLst>
          </p:cNvPr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Developer Notes: Hal yang Harus Disepakati</a:t>
            </a:r>
            <a:endParaRPr lang="en-US" sz="2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2FCFA5D-F7EB-D6A9-78F6-CB7DA50F5910}"/>
              </a:ext>
            </a:extLst>
          </p:cNvPr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48D70A0-28DC-5DB6-C930-C1A8681087FE}"/>
              </a:ext>
            </a:extLst>
          </p:cNvPr>
          <p:cNvSpPr/>
          <p:nvPr/>
        </p:nvSpPr>
        <p:spPr>
          <a:xfrm>
            <a:off x="685800" y="12801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BF9365A-E136-A81C-2C00-542EF20B72AA}"/>
              </a:ext>
            </a:extLst>
          </p:cNvPr>
          <p:cNvSpPr/>
          <p:nvPr/>
        </p:nvSpPr>
        <p:spPr>
          <a:xfrm>
            <a:off x="685800" y="12801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1C219BC-5BAF-4B65-F2A5-F5984C3306CA}"/>
              </a:ext>
            </a:extLst>
          </p:cNvPr>
          <p:cNvSpPr/>
          <p:nvPr/>
        </p:nvSpPr>
        <p:spPr>
          <a:xfrm>
            <a:off x="886968" y="1435608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Correlation &amp; Instance ID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BC7FC78-D589-3AD6-DA23-81DF044596D5}"/>
              </a:ext>
            </a:extLst>
          </p:cNvPr>
          <p:cNvSpPr/>
          <p:nvPr/>
        </p:nvSpPr>
        <p:spPr>
          <a:xfrm>
            <a:off x="886968" y="1828800"/>
            <a:ext cx="47274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Gunakan business request ID sebagai kunci utama tracking. Simpan workflow instance ID sebagai referensi teknis.</a:t>
            </a:r>
            <a:endParaRPr lang="en-US" sz="127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3BB56AA-EEAF-0CD1-4E74-ECC5CDCB5851}"/>
              </a:ext>
            </a:extLst>
          </p:cNvPr>
          <p:cNvSpPr/>
          <p:nvPr/>
        </p:nvSpPr>
        <p:spPr>
          <a:xfrm>
            <a:off x="6217920" y="128016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D603A8A-DF35-EA44-7980-FD35017D30EB}"/>
              </a:ext>
            </a:extLst>
          </p:cNvPr>
          <p:cNvSpPr/>
          <p:nvPr/>
        </p:nvSpPr>
        <p:spPr>
          <a:xfrm>
            <a:off x="6217920" y="12801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20AC45E-4C0B-A3B0-54EA-355FA183AD8D}"/>
              </a:ext>
            </a:extLst>
          </p:cNvPr>
          <p:cNvSpPr/>
          <p:nvPr/>
        </p:nvSpPr>
        <p:spPr>
          <a:xfrm>
            <a:off x="6419088" y="1435608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Variable &amp; Payload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BC74F82-7EF5-5D0A-3B89-4D8C5E2A9263}"/>
              </a:ext>
            </a:extLst>
          </p:cNvPr>
          <p:cNvSpPr/>
          <p:nvPr/>
        </p:nvSpPr>
        <p:spPr>
          <a:xfrm>
            <a:off x="6419088" y="1828800"/>
            <a:ext cx="47274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Standarkan nama variable: requestId, requesterEmail, approverEmail, approvalStatus, remarks.</a:t>
            </a:r>
            <a:endParaRPr lang="en-US" sz="127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B3EBDD2-71A9-16E3-419F-C9284BDE2BCA}"/>
              </a:ext>
            </a:extLst>
          </p:cNvPr>
          <p:cNvSpPr/>
          <p:nvPr/>
        </p:nvSpPr>
        <p:spPr>
          <a:xfrm>
            <a:off x="685800" y="27889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0012A5B-7D75-D2D0-6444-A5DBD6B31A45}"/>
              </a:ext>
            </a:extLst>
          </p:cNvPr>
          <p:cNvSpPr/>
          <p:nvPr/>
        </p:nvSpPr>
        <p:spPr>
          <a:xfrm>
            <a:off x="685800" y="27889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6500AE6-7519-1677-54B1-5A77DB83A82D}"/>
              </a:ext>
            </a:extLst>
          </p:cNvPr>
          <p:cNvSpPr/>
          <p:nvPr/>
        </p:nvSpPr>
        <p:spPr>
          <a:xfrm>
            <a:off x="886968" y="2944368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Endpoint Design</a:t>
            </a:r>
            <a:endParaRPr lang="en-US" sz="1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A6C63A8-0121-0AB1-17BB-0427E70459B5}"/>
              </a:ext>
            </a:extLst>
          </p:cNvPr>
          <p:cNvSpPr/>
          <p:nvPr/>
        </p:nvSpPr>
        <p:spPr>
          <a:xfrm>
            <a:off x="886968" y="3337560"/>
            <a:ext cx="47274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Pisahkan endpoint start workflow dan endpoint approve/reject. Pastikan idempotency untuk double click / retry.</a:t>
            </a:r>
            <a:endParaRPr lang="en-US" sz="127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28CCFCF-BE10-7B00-6AAE-37B13250F4E5}"/>
              </a:ext>
            </a:extLst>
          </p:cNvPr>
          <p:cNvSpPr/>
          <p:nvPr/>
        </p:nvSpPr>
        <p:spPr>
          <a:xfrm>
            <a:off x="6217920" y="27889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4A5F9286-8D07-4431-B9F4-A568E98953AD}"/>
              </a:ext>
            </a:extLst>
          </p:cNvPr>
          <p:cNvSpPr/>
          <p:nvPr/>
        </p:nvSpPr>
        <p:spPr>
          <a:xfrm>
            <a:off x="6217920" y="278892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2B9CF00-B689-AF05-E91C-9A51EAB915A9}"/>
              </a:ext>
            </a:extLst>
          </p:cNvPr>
          <p:cNvSpPr/>
          <p:nvPr/>
        </p:nvSpPr>
        <p:spPr>
          <a:xfrm>
            <a:off x="6419088" y="2944368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Security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3A630629-8590-22E6-7EC5-F1B2A61E8BC2}"/>
              </a:ext>
            </a:extLst>
          </p:cNvPr>
          <p:cNvSpPr/>
          <p:nvPr/>
        </p:nvSpPr>
        <p:spPr>
          <a:xfrm>
            <a:off x="6419088" y="3337560"/>
            <a:ext cx="47274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Approval link perlu token unik, expiry, actor validation, dan logging. Jangan hanya mengandalkan query string.</a:t>
            </a:r>
            <a:endParaRPr lang="en-US" sz="127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B709789-1CB0-4883-BE27-448558A6CADD}"/>
              </a:ext>
            </a:extLst>
          </p:cNvPr>
          <p:cNvSpPr/>
          <p:nvPr/>
        </p:nvSpPr>
        <p:spPr>
          <a:xfrm>
            <a:off x="685800" y="429768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333C0C51-0D31-9FF0-62C7-5132307FC722}"/>
              </a:ext>
            </a:extLst>
          </p:cNvPr>
          <p:cNvSpPr/>
          <p:nvPr/>
        </p:nvSpPr>
        <p:spPr>
          <a:xfrm>
            <a:off x="685800" y="42976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CB5FC9A-DBF3-4CC0-92E7-9E587D7E5F52}"/>
              </a:ext>
            </a:extLst>
          </p:cNvPr>
          <p:cNvSpPr/>
          <p:nvPr/>
        </p:nvSpPr>
        <p:spPr>
          <a:xfrm>
            <a:off x="886968" y="4453128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Error Handling</a:t>
            </a:r>
            <a:endParaRPr lang="en-US" sz="16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F870EB97-C72B-A69F-51F3-97137E3DCB6E}"/>
              </a:ext>
            </a:extLst>
          </p:cNvPr>
          <p:cNvSpPr/>
          <p:nvPr/>
        </p:nvSpPr>
        <p:spPr>
          <a:xfrm>
            <a:off x="886968" y="4846320"/>
            <a:ext cx="47274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Siapkan incident path: failed email, failed document, timeout, dan manual retry.</a:t>
            </a:r>
            <a:endParaRPr lang="en-US" sz="127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912D48AA-2CD6-007C-1768-877C43082142}"/>
              </a:ext>
            </a:extLst>
          </p:cNvPr>
          <p:cNvSpPr/>
          <p:nvPr/>
        </p:nvSpPr>
        <p:spPr>
          <a:xfrm>
            <a:off x="6217920" y="429768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910057D7-3577-9831-2164-4E93465538C0}"/>
              </a:ext>
            </a:extLst>
          </p:cNvPr>
          <p:cNvSpPr/>
          <p:nvPr/>
        </p:nvSpPr>
        <p:spPr>
          <a:xfrm>
            <a:off x="6217920" y="42976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F3DC93D3-F0C4-AF45-F098-D240EDB1A268}"/>
              </a:ext>
            </a:extLst>
          </p:cNvPr>
          <p:cNvSpPr/>
          <p:nvPr/>
        </p:nvSpPr>
        <p:spPr>
          <a:xfrm>
            <a:off x="6419088" y="4453128"/>
            <a:ext cx="4754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Observability</a:t>
            </a:r>
            <a:endParaRPr lang="en-US" sz="16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5241497-94CB-5D6E-65A8-651885772C4F}"/>
              </a:ext>
            </a:extLst>
          </p:cNvPr>
          <p:cNvSpPr/>
          <p:nvPr/>
        </p:nvSpPr>
        <p:spPr>
          <a:xfrm>
            <a:off x="6419088" y="4846320"/>
            <a:ext cx="472744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Log start, wait, resume, approve/reject, dan completed untuk audit trail.</a:t>
            </a:r>
            <a:endParaRPr lang="en-US" sz="1270" dirty="0"/>
          </a:p>
        </p:txBody>
      </p:sp>
    </p:spTree>
    <p:extLst>
      <p:ext uri="{BB962C8B-B14F-4D97-AF65-F5344CB8AC3E}">
        <p14:creationId xmlns:p14="http://schemas.microsoft.com/office/powerpoint/2010/main" val="298764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8BE8E34-E0A6-C6B7-2B77-93026E7C27B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0EF7858-EC8D-BF8A-4EBB-BF6E9B449115}"/>
              </a:ext>
            </a:extLst>
          </p:cNvPr>
          <p:cNvSpPr/>
          <p:nvPr/>
        </p:nvSpPr>
        <p:spPr>
          <a:xfrm>
            <a:off x="594360" y="310896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Elsa Workflow</a:t>
            </a:r>
            <a:endParaRPr lang="en-US" sz="9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BF7F4F4-18F9-3775-0E2E-756E138107D6}"/>
              </a:ext>
            </a:extLst>
          </p:cNvPr>
          <p:cNvSpPr/>
          <p:nvPr/>
        </p:nvSpPr>
        <p:spPr>
          <a:xfrm>
            <a:off x="59436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Roadmap Pilot ke Implementasi Tim</a:t>
            </a:r>
            <a:endParaRPr lang="en-US" sz="2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2EDBB65-D138-BF0A-15E1-03DC0316669A}"/>
              </a:ext>
            </a:extLst>
          </p:cNvPr>
          <p:cNvSpPr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Developer perspective → Team Lead decision support</a:t>
            </a:r>
            <a:endParaRPr lang="en-US" sz="8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11948AB-5C8C-0954-ACD5-8E8AE51510C6}"/>
              </a:ext>
            </a:extLst>
          </p:cNvPr>
          <p:cNvSpPr/>
          <p:nvPr/>
        </p:nvSpPr>
        <p:spPr>
          <a:xfrm>
            <a:off x="777240" y="1920240"/>
            <a:ext cx="2286000" cy="2331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9761EA7-35E2-A7FC-F196-C293567B6E31}"/>
              </a:ext>
            </a:extLst>
          </p:cNvPr>
          <p:cNvSpPr/>
          <p:nvPr/>
        </p:nvSpPr>
        <p:spPr>
          <a:xfrm>
            <a:off x="978408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Phase 1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207596D-9973-15A4-C2D1-05E479124334}"/>
              </a:ext>
            </a:extLst>
          </p:cNvPr>
          <p:cNvSpPr/>
          <p:nvPr/>
        </p:nvSpPr>
        <p:spPr>
          <a:xfrm>
            <a:off x="978408" y="2587752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POC stabil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62C3B98-6F2E-9CBA-15A2-A269EFCFF85C}"/>
              </a:ext>
            </a:extLst>
          </p:cNvPr>
          <p:cNvSpPr/>
          <p:nvPr/>
        </p:nvSpPr>
        <p:spPr>
          <a:xfrm>
            <a:off x="100584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748B"/>
                </a:solidFill>
              </a:rPr>
              <a:t>Approval basic, variable, email, wait/resume.</a:t>
            </a:r>
            <a:endParaRPr lang="en-US" sz="112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2F711A7-FC9D-6415-AF5D-8808B4309EE4}"/>
              </a:ext>
            </a:extLst>
          </p:cNvPr>
          <p:cNvSpPr/>
          <p:nvPr/>
        </p:nvSpPr>
        <p:spPr>
          <a:xfrm>
            <a:off x="3108960" y="306324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71BA029-1D32-D127-B0DF-22FD76334358}"/>
              </a:ext>
            </a:extLst>
          </p:cNvPr>
          <p:cNvSpPr/>
          <p:nvPr/>
        </p:nvSpPr>
        <p:spPr>
          <a:xfrm>
            <a:off x="3566160" y="1920240"/>
            <a:ext cx="228600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87E81CF-E6E5-2CA8-1F65-E84B3A4F8FDF}"/>
              </a:ext>
            </a:extLst>
          </p:cNvPr>
          <p:cNvSpPr/>
          <p:nvPr/>
        </p:nvSpPr>
        <p:spPr>
          <a:xfrm>
            <a:off x="3767328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Phase 2</a:t>
            </a: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CFD4387-56CC-1D07-4CE1-D5A18787833D}"/>
              </a:ext>
            </a:extLst>
          </p:cNvPr>
          <p:cNvSpPr/>
          <p:nvPr/>
        </p:nvSpPr>
        <p:spPr>
          <a:xfrm>
            <a:off x="3767328" y="2587752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Hardening</a:t>
            </a:r>
            <a:endParaRPr lang="en-US" sz="17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9A57CA3-8FE9-8DE1-7D77-CA999DB6FF7B}"/>
              </a:ext>
            </a:extLst>
          </p:cNvPr>
          <p:cNvSpPr/>
          <p:nvPr/>
        </p:nvSpPr>
        <p:spPr>
          <a:xfrm>
            <a:off x="379476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748B"/>
                </a:solidFill>
              </a:rPr>
              <a:t>Security endpoint, correlation ID, logging, retry.</a:t>
            </a:r>
            <a:endParaRPr lang="en-US" sz="112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3640257-29B4-01EA-0A02-A2CB4064201C}"/>
              </a:ext>
            </a:extLst>
          </p:cNvPr>
          <p:cNvSpPr/>
          <p:nvPr/>
        </p:nvSpPr>
        <p:spPr>
          <a:xfrm>
            <a:off x="5897880" y="306324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050459A-289B-05D8-F725-7D4789881668}"/>
              </a:ext>
            </a:extLst>
          </p:cNvPr>
          <p:cNvSpPr/>
          <p:nvPr/>
        </p:nvSpPr>
        <p:spPr>
          <a:xfrm>
            <a:off x="6355080" y="1920240"/>
            <a:ext cx="2286000" cy="233172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9B5853F-EAE3-4286-795B-CE7A57585F6E}"/>
              </a:ext>
            </a:extLst>
          </p:cNvPr>
          <p:cNvSpPr/>
          <p:nvPr/>
        </p:nvSpPr>
        <p:spPr>
          <a:xfrm>
            <a:off x="6556248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Phase 3</a:t>
            </a:r>
            <a:endParaRPr lang="en-US" sz="1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C7C3390-34CB-222B-9B7D-640972476092}"/>
              </a:ext>
            </a:extLst>
          </p:cNvPr>
          <p:cNvSpPr/>
          <p:nvPr/>
        </p:nvSpPr>
        <p:spPr>
          <a:xfrm>
            <a:off x="6556248" y="2587752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Pilot real case</a:t>
            </a:r>
            <a:endParaRPr lang="en-US" sz="17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9070008-93A8-6624-B1C7-0D518A828E3A}"/>
              </a:ext>
            </a:extLst>
          </p:cNvPr>
          <p:cNvSpPr/>
          <p:nvPr/>
        </p:nvSpPr>
        <p:spPr>
          <a:xfrm>
            <a:off x="658368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748B"/>
                </a:solidFill>
              </a:rPr>
              <a:t>Satu proses document approval dipakai end-to-end.</a:t>
            </a:r>
            <a:endParaRPr lang="en-US" sz="112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471FFD4-0301-2042-848B-69CC8FD1D04C}"/>
              </a:ext>
            </a:extLst>
          </p:cNvPr>
          <p:cNvSpPr/>
          <p:nvPr/>
        </p:nvSpPr>
        <p:spPr>
          <a:xfrm>
            <a:off x="8686800" y="306324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089801F8-C564-417E-C62B-C8F930AEAE5F}"/>
              </a:ext>
            </a:extLst>
          </p:cNvPr>
          <p:cNvSpPr/>
          <p:nvPr/>
        </p:nvSpPr>
        <p:spPr>
          <a:xfrm>
            <a:off x="9144000" y="1920240"/>
            <a:ext cx="2286000" cy="2331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AA76307-E5D1-E7E7-F22E-AC9E1B82CAA7}"/>
              </a:ext>
            </a:extLst>
          </p:cNvPr>
          <p:cNvSpPr/>
          <p:nvPr/>
        </p:nvSpPr>
        <p:spPr>
          <a:xfrm>
            <a:off x="9345168" y="2148840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Phase 4</a:t>
            </a:r>
            <a:endParaRPr lang="en-US" sz="12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1CC0519-8C27-9F9A-E2F8-6858DC3A5198}"/>
              </a:ext>
            </a:extLst>
          </p:cNvPr>
          <p:cNvSpPr/>
          <p:nvPr/>
        </p:nvSpPr>
        <p:spPr>
          <a:xfrm>
            <a:off x="9345168" y="2587752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Standardisasi</a:t>
            </a:r>
            <a:endParaRPr lang="en-US" sz="17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46CA4B9B-341D-85C8-48FD-8B380907C282}"/>
              </a:ext>
            </a:extLst>
          </p:cNvPr>
          <p:cNvSpPr/>
          <p:nvPr/>
        </p:nvSpPr>
        <p:spPr>
          <a:xfrm>
            <a:off x="937260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4748B"/>
                </a:solidFill>
              </a:rPr>
              <a:t>Template workflow, naming convention, dan SOP publish.</a:t>
            </a:r>
            <a:endParaRPr lang="en-US" sz="112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7C134B65-D0FB-61AB-E86E-F6A9C3E8021B}"/>
              </a:ext>
            </a:extLst>
          </p:cNvPr>
          <p:cNvSpPr/>
          <p:nvPr/>
        </p:nvSpPr>
        <p:spPr>
          <a:xfrm>
            <a:off x="1051560" y="4892040"/>
            <a:ext cx="4754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728B0CD-651C-FE91-9844-B4A7C137FF9D}"/>
              </a:ext>
            </a:extLst>
          </p:cNvPr>
          <p:cNvSpPr/>
          <p:nvPr/>
        </p:nvSpPr>
        <p:spPr>
          <a:xfrm>
            <a:off x="1051560" y="489204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8BB19D04-C91B-FC81-8E50-AE4ABE9444A0}"/>
              </a:ext>
            </a:extLst>
          </p:cNvPr>
          <p:cNvSpPr/>
          <p:nvPr/>
        </p:nvSpPr>
        <p:spPr>
          <a:xfrm>
            <a:off x="1252728" y="5047488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Deliverable untuk lead</a:t>
            </a:r>
            <a:endParaRPr lang="en-US" sz="16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265554F5-85F8-0F1E-84BF-E2EE4261833A}"/>
              </a:ext>
            </a:extLst>
          </p:cNvPr>
          <p:cNvSpPr/>
          <p:nvPr/>
        </p:nvSpPr>
        <p:spPr>
          <a:xfrm>
            <a:off x="1252728" y="5440680"/>
            <a:ext cx="44074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Demo workflow, dokumentasi endpoint, daftar risiko, dan rekomendasi go/no-go.</a:t>
            </a:r>
            <a:endParaRPr lang="en-US" sz="127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6450DDDF-1BD5-D2B7-B426-ABE101C8E724}"/>
              </a:ext>
            </a:extLst>
          </p:cNvPr>
          <p:cNvSpPr/>
          <p:nvPr/>
        </p:nvSpPr>
        <p:spPr>
          <a:xfrm>
            <a:off x="6400800" y="4892040"/>
            <a:ext cx="4754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6718A510-6F5A-BCBE-19BD-094B97607723}"/>
              </a:ext>
            </a:extLst>
          </p:cNvPr>
          <p:cNvSpPr/>
          <p:nvPr/>
        </p:nvSpPr>
        <p:spPr>
          <a:xfrm>
            <a:off x="6400800" y="489204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0F49EDE-5D40-45F6-7AEC-A20171E7A699}"/>
              </a:ext>
            </a:extLst>
          </p:cNvPr>
          <p:cNvSpPr/>
          <p:nvPr/>
        </p:nvSpPr>
        <p:spPr>
          <a:xfrm>
            <a:off x="6601968" y="5047488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Keputusan yang dibutuhkan</a:t>
            </a:r>
            <a:endParaRPr lang="en-US" sz="16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032888DA-3ED0-1CD7-975B-8480F426C257}"/>
              </a:ext>
            </a:extLst>
          </p:cNvPr>
          <p:cNvSpPr/>
          <p:nvPr/>
        </p:nvSpPr>
        <p:spPr>
          <a:xfrm>
            <a:off x="6601968" y="5440680"/>
            <a:ext cx="44074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Setujui scope pilot, standar security, dan owner maintenance workflow.</a:t>
            </a:r>
            <a:endParaRPr lang="en-US" sz="1270" dirty="0"/>
          </a:p>
        </p:txBody>
      </p:sp>
    </p:spTree>
    <p:extLst>
      <p:ext uri="{BB962C8B-B14F-4D97-AF65-F5344CB8AC3E}">
        <p14:creationId xmlns:p14="http://schemas.microsoft.com/office/powerpoint/2010/main" val="330332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8B732-A2B2-DD81-FF84-8D638FB1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54094-63FB-5DBC-BB24-F4662F9E2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A1985DA-372F-0273-9982-864374A753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1142DC3-5A7B-68FC-B61A-25923CC2D6E1}"/>
              </a:ext>
            </a:extLst>
          </p:cNvPr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A382285-2EA8-D9D3-AD5C-0F8A5D1CA3CA}"/>
              </a:ext>
            </a:extLst>
          </p:cNvPr>
          <p:cNvSpPr/>
          <p:nvPr/>
        </p:nvSpPr>
        <p:spPr>
          <a:xfrm>
            <a:off x="731520" y="960120"/>
            <a:ext cx="4297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Kesimpulan</a:t>
            </a:r>
            <a:endParaRPr lang="en-US" sz="3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9CB3A74-7363-8936-8CBB-01783E65ED15}"/>
              </a:ext>
            </a:extLst>
          </p:cNvPr>
          <p:cNvSpPr/>
          <p:nvPr/>
        </p:nvSpPr>
        <p:spPr>
          <a:xfrm>
            <a:off x="777240" y="1755648"/>
            <a:ext cx="6583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8E8FF"/>
                </a:solidFill>
              </a:rPr>
              <a:t>Elsa Workflow layak diposisikan sebagai framework orkestrasi approval, terutama untuk proses yang long-running, membutuhkan monitoring, dan sering berubah.</a:t>
            </a:r>
            <a:endParaRPr lang="en-US" sz="18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ED830F3-B893-9F6B-918C-F76424144372}"/>
              </a:ext>
            </a:extLst>
          </p:cNvPr>
          <p:cNvSpPr/>
          <p:nvPr/>
        </p:nvSpPr>
        <p:spPr>
          <a:xfrm>
            <a:off x="868680" y="292608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722F0E9-3BB2-28DF-D406-0762EE70D8D4}"/>
              </a:ext>
            </a:extLst>
          </p:cNvPr>
          <p:cNvSpPr/>
          <p:nvPr/>
        </p:nvSpPr>
        <p:spPr>
          <a:xfrm>
            <a:off x="868680" y="29260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8C324D-7661-8A73-3407-8270E758A1E0}"/>
              </a:ext>
            </a:extLst>
          </p:cNvPr>
          <p:cNvSpPr/>
          <p:nvPr/>
        </p:nvSpPr>
        <p:spPr>
          <a:xfrm>
            <a:off x="1069848" y="3081528"/>
            <a:ext cx="2971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Nilai utama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B0E5E42-5AB4-8094-5762-73C471246F50}"/>
              </a:ext>
            </a:extLst>
          </p:cNvPr>
          <p:cNvSpPr/>
          <p:nvPr/>
        </p:nvSpPr>
        <p:spPr>
          <a:xfrm>
            <a:off x="1069848" y="3474720"/>
            <a:ext cx="29443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Flow lebih visible, lebih mudah diubah, dan lebih mudah didiskusikan lintas role.</a:t>
            </a:r>
            <a:endParaRPr lang="en-US" sz="127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283DA18-CEC5-E13A-255B-4CD76BFD2885}"/>
              </a:ext>
            </a:extLst>
          </p:cNvPr>
          <p:cNvSpPr/>
          <p:nvPr/>
        </p:nvSpPr>
        <p:spPr>
          <a:xfrm>
            <a:off x="4434840" y="292608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ED33B38-E854-F4BE-910B-37C33C732DB7}"/>
              </a:ext>
            </a:extLst>
          </p:cNvPr>
          <p:cNvSpPr/>
          <p:nvPr/>
        </p:nvSpPr>
        <p:spPr>
          <a:xfrm>
            <a:off x="4434840" y="292608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19E679A-A846-2FAC-A61A-3A1BFABC3AA2}"/>
              </a:ext>
            </a:extLst>
          </p:cNvPr>
          <p:cNvSpPr/>
          <p:nvPr/>
        </p:nvSpPr>
        <p:spPr>
          <a:xfrm>
            <a:off x="4636008" y="3081528"/>
            <a:ext cx="2971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Syarat sukses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B74CF90-5EFB-B5C5-E3F1-AEC41CEE252F}"/>
              </a:ext>
            </a:extLst>
          </p:cNvPr>
          <p:cNvSpPr/>
          <p:nvPr/>
        </p:nvSpPr>
        <p:spPr>
          <a:xfrm>
            <a:off x="4636008" y="3474720"/>
            <a:ext cx="29443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Boundary jelas, endpoint aman, logging kuat, dan scope pilot tidak terlalu lebar.</a:t>
            </a:r>
            <a:endParaRPr lang="en-US" sz="127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B2FB3E5-82C4-2943-ADD4-54632B7E784D}"/>
              </a:ext>
            </a:extLst>
          </p:cNvPr>
          <p:cNvSpPr/>
          <p:nvPr/>
        </p:nvSpPr>
        <p:spPr>
          <a:xfrm>
            <a:off x="8001000" y="292608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4000"/>
              </a:srgbClr>
            </a:outerShdw>
          </a:effectLst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32D5C73-A1A2-4B82-A4BB-694BE898C96B}"/>
              </a:ext>
            </a:extLst>
          </p:cNvPr>
          <p:cNvSpPr/>
          <p:nvPr/>
        </p:nvSpPr>
        <p:spPr>
          <a:xfrm>
            <a:off x="8001000" y="29260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FB199A6-7E66-A883-6554-8678AECFCA71}"/>
              </a:ext>
            </a:extLst>
          </p:cNvPr>
          <p:cNvSpPr/>
          <p:nvPr/>
        </p:nvSpPr>
        <p:spPr>
          <a:xfrm>
            <a:off x="8202168" y="3081528"/>
            <a:ext cx="2971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Next step</a:t>
            </a:r>
            <a:endParaRPr lang="en-US" sz="1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2170E36-7AA2-EF0F-1040-15936D371200}"/>
              </a:ext>
            </a:extLst>
          </p:cNvPr>
          <p:cNvSpPr/>
          <p:nvPr/>
        </p:nvSpPr>
        <p:spPr>
          <a:xfrm>
            <a:off x="8202168" y="3474720"/>
            <a:ext cx="29443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64748B"/>
                </a:solidFill>
              </a:rPr>
              <a:t>Lanjut controlled pilot dan review bersama lead sebelum standardisasi.</a:t>
            </a:r>
            <a:endParaRPr lang="en-US" sz="127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98B2EC3-D92C-A356-1C9A-A9191E0F9EBE}"/>
              </a:ext>
            </a:extLst>
          </p:cNvPr>
          <p:cNvSpPr/>
          <p:nvPr/>
        </p:nvSpPr>
        <p:spPr>
          <a:xfrm>
            <a:off x="868680" y="5166360"/>
            <a:ext cx="1042416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Ask: approval untuk melanjutkan pilot terbatas dengan fokus pada satu use case approval document processing.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18868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720</Words>
  <Application>Microsoft Office PowerPoint</Application>
  <PresentationFormat>Widescreen</PresentationFormat>
  <Paragraphs>109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martin</dc:creator>
  <cp:lastModifiedBy>michael martin</cp:lastModifiedBy>
  <cp:revision>1</cp:revision>
  <dcterms:created xsi:type="dcterms:W3CDTF">2026-05-26T13:19:50Z</dcterms:created>
  <dcterms:modified xsi:type="dcterms:W3CDTF">2026-05-26T13:24:18Z</dcterms:modified>
</cp:coreProperties>
</file>